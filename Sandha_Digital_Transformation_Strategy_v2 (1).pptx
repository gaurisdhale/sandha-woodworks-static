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6" r:id="rId23"/>
    <p:sldId id="277" r:id="rId24"/>
    <p:sldId id="278" r:id="rId25"/>
    <p:sldId id="287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49CBFF-479A-316E-605F-7FDEBA499E76}" v="1" dt="2026-06-30T05:17:28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ri Shankar Dhale" userId="S::g.waghmode@nexgts.com::4dc957aa-05cb-4620-b2ef-40c5fa77672d" providerId="AD" clId="Web-{5149CBFF-479A-316E-605F-7FDEBA499E76}"/>
    <pc:docChg chg="modSld">
      <pc:chgData name="Gauri Shankar Dhale" userId="S::g.waghmode@nexgts.com::4dc957aa-05cb-4620-b2ef-40c5fa77672d" providerId="AD" clId="Web-{5149CBFF-479A-316E-605F-7FDEBA499E76}" dt="2026-06-30T05:17:28.227" v="0" actId="1076"/>
      <pc:docMkLst>
        <pc:docMk/>
      </pc:docMkLst>
      <pc:sldChg chg="modSp">
        <pc:chgData name="Gauri Shankar Dhale" userId="S::g.waghmode@nexgts.com::4dc957aa-05cb-4620-b2ef-40c5fa77672d" providerId="AD" clId="Web-{5149CBFF-479A-316E-605F-7FDEBA499E76}" dt="2026-06-30T05:17:28.227" v="0" actId="1076"/>
        <pc:sldMkLst>
          <pc:docMk/>
          <pc:sldMk cId="0" sldId="279"/>
        </pc:sldMkLst>
        <pc:spChg chg="mod">
          <ac:chgData name="Gauri Shankar Dhale" userId="S::g.waghmode@nexgts.com::4dc957aa-05cb-4620-b2ef-40c5fa77672d" providerId="AD" clId="Web-{5149CBFF-479A-316E-605F-7FDEBA499E76}" dt="2026-06-30T05:17:28.227" v="0" actId="1076"/>
          <ac:spMkLst>
            <pc:docMk/>
            <pc:sldMk cId="0" sldId="279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8066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04136-DE67-60D3-23A6-4B4E816D9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2C5034-DE98-AF09-61BC-89F3ED7C3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E37FC-F05C-BC49-B18E-9BDBB0395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51381-DE07-A016-1F5D-BC198327A5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54200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27BA9-1EF7-2D80-84E0-AF01F57ED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81958-A993-3E18-8766-E9F74702A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E200E-5418-7E27-AE0E-A7723A5D7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E4971-5F3E-1D8C-A5EE-94040CF735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8786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64008" cy="514350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FFFFF"/>
                </a:solidFill>
              </a:rPr>
              <a:t>N E X G E 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A6"/>
                </a:solidFill>
              </a:rPr>
              <a:t>Tech Solutions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Digital Transformation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90195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B4A6"/>
                </a:solidFill>
              </a:rPr>
              <a:t>Platform Strategy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257860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Commerce · ERP · AI — Built to Scale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3218688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</a:rPr>
              <a:t>Prepared for  Sandha Woodworks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3456432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</a:rPr>
              <a:t>Prepared by  NexGen Technology Solutions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694176"/>
            <a:ext cx="5120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</a:rPr>
              <a:t>June 2026  ·  v2.0  ·  Confidential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91072" y="347472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A6"/>
                </a:solidFill>
              </a:rPr>
              <a:t>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91072" y="89611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Platform Phases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37960" y="1225296"/>
            <a:ext cx="1993392" cy="0"/>
          </a:xfrm>
          <a:prstGeom prst="line">
            <a:avLst/>
          </a:prstGeom>
          <a:noFill/>
          <a:ln w="8890">
            <a:solidFill>
              <a:srgbClr val="1E3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91072" y="146304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A6"/>
                </a:solidFill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91072" y="2011680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Technology Layers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37960" y="2340864"/>
            <a:ext cx="1993392" cy="0"/>
          </a:xfrm>
          <a:prstGeom prst="line">
            <a:avLst/>
          </a:prstGeom>
          <a:noFill/>
          <a:ln w="8890">
            <a:solidFill>
              <a:srgbClr val="1E3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91072" y="257860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A6"/>
                </a:solidFill>
              </a:rPr>
              <a:t>12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91072" y="3127248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Competitor Sites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37960" y="3456432"/>
            <a:ext cx="1993392" cy="0"/>
          </a:xfrm>
          <a:prstGeom prst="line">
            <a:avLst/>
          </a:prstGeom>
          <a:noFill/>
          <a:ln w="8890">
            <a:solidFill>
              <a:srgbClr val="1E32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91072" y="3694176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A6"/>
                </a:solidFill>
              </a:rPr>
              <a:t>8+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291072" y="4242816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Revenue Drivers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4882896"/>
            <a:ext cx="8714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dirty="0">
                <a:solidFill>
                  <a:srgbClr val="0D1B2A"/>
                </a:solidFill>
              </a:rPr>
              <a:t>© 2026 NexGen Tech Solutions  ·  Confidential  ·  Prepared for </a:t>
            </a:r>
            <a:r>
              <a:rPr lang="en-US" sz="700" b="1" dirty="0" err="1">
                <a:solidFill>
                  <a:srgbClr val="0D1B2A"/>
                </a:solidFill>
              </a:rPr>
              <a:t>Sandha</a:t>
            </a:r>
            <a:r>
              <a:rPr lang="en-US" sz="700" b="1" dirty="0">
                <a:solidFill>
                  <a:srgbClr val="0D1B2A"/>
                </a:solidFill>
              </a:rPr>
              <a:t> Woodworks                                                                                                                                                                                               "Your Strategic Technology Partner"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What We Cover in This Presentation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4892040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206240" cy="749808"/>
          </a:xfrm>
          <a:prstGeom prst="roundRect">
            <a:avLst>
              <a:gd name="adj" fmla="val 6098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93192" y="859536"/>
            <a:ext cx="384048" cy="566928"/>
          </a:xfrm>
          <a:prstGeom prst="roundRect">
            <a:avLst>
              <a:gd name="adj" fmla="val 9524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3192" y="859536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8412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Digital Transformation Vision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1612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</a:rPr>
              <a:t>Why now, and what we're building toward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618488"/>
            <a:ext cx="4206240" cy="749808"/>
          </a:xfrm>
          <a:prstGeom prst="roundRect">
            <a:avLst>
              <a:gd name="adj" fmla="val 6098"/>
            </a:avLst>
          </a:prstGeom>
          <a:solidFill>
            <a:srgbClr val="EBF5F4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93192" y="1700784"/>
            <a:ext cx="384048" cy="566928"/>
          </a:xfrm>
          <a:prstGeom prst="roundRect">
            <a:avLst>
              <a:gd name="adj" fmla="val 9524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93192" y="1700784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16824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Transformation Journey Overview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0025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</a:rPr>
              <a:t>4-phase platform evolution map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2459736"/>
            <a:ext cx="4206240" cy="749808"/>
          </a:xfrm>
          <a:prstGeom prst="roundRect">
            <a:avLst>
              <a:gd name="adj" fmla="val 6098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93192" y="2542032"/>
            <a:ext cx="384048" cy="566928"/>
          </a:xfrm>
          <a:prstGeom prst="roundRect">
            <a:avLst>
              <a:gd name="adj" fmla="val 9524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3192" y="2542032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25237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Phase 1 — Commerce Foundation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28437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</a:rPr>
              <a:t>Website, mobile app, e-commerce, payments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3300984"/>
            <a:ext cx="4206240" cy="749808"/>
          </a:xfrm>
          <a:prstGeom prst="roundRect">
            <a:avLst>
              <a:gd name="adj" fmla="val 6098"/>
            </a:avLst>
          </a:prstGeom>
          <a:solidFill>
            <a:srgbClr val="EBF5F4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93192" y="338328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3192" y="3383280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3364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Phase 2 — ERP Enablement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36850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</a:rPr>
              <a:t>Operations, finance, HR, CRM on one platform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4142232"/>
            <a:ext cx="4206240" cy="749808"/>
          </a:xfrm>
          <a:prstGeom prst="roundRect">
            <a:avLst>
              <a:gd name="adj" fmla="val 6098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93192" y="4224528"/>
            <a:ext cx="384048" cy="566928"/>
          </a:xfrm>
          <a:prstGeom prst="roundRect">
            <a:avLst>
              <a:gd name="adj" fmla="val 9524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3192" y="4224528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4206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Phase 3 — AI Transformation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" y="4526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</a:rPr>
              <a:t>Personalisation, forecasting, automation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777240"/>
            <a:ext cx="4206240" cy="749808"/>
          </a:xfrm>
          <a:prstGeom prst="roundRect">
            <a:avLst>
              <a:gd name="adj" fmla="val 6098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28032" y="859536"/>
            <a:ext cx="384048" cy="566928"/>
          </a:xfrm>
          <a:prstGeom prst="roundRect">
            <a:avLst>
              <a:gd name="adj" fmla="val 9524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28032" y="859536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0" y="8412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Phase 4 — Unified Ecosystem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03520" y="11612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</a:rPr>
              <a:t>The end-state: one platform, full visibility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1618488"/>
            <a:ext cx="4206240" cy="749808"/>
          </a:xfrm>
          <a:prstGeom prst="roundRect">
            <a:avLst>
              <a:gd name="adj" fmla="val 6098"/>
            </a:avLst>
          </a:prstGeom>
          <a:solidFill>
            <a:srgbClr val="EBF5F4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28032" y="1700784"/>
            <a:ext cx="384048" cy="566928"/>
          </a:xfrm>
          <a:prstGeom prst="roundRect">
            <a:avLst>
              <a:gd name="adj" fmla="val 9524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28032" y="1700784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03520" y="16824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Competitor &amp; Industry Analysis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03520" y="20025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</a:rPr>
              <a:t>12 reference sites · best practices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0" y="2459736"/>
            <a:ext cx="4206240" cy="749808"/>
          </a:xfrm>
          <a:prstGeom prst="roundRect">
            <a:avLst>
              <a:gd name="adj" fmla="val 6098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28032" y="2542032"/>
            <a:ext cx="384048" cy="566928"/>
          </a:xfrm>
          <a:prstGeom prst="roundRect">
            <a:avLst>
              <a:gd name="adj" fmla="val 9524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28032" y="2542032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03520" y="25237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Solution Architecture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03520" y="28437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</a:rPr>
              <a:t>Platform stack, nav structure, tech choices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54880" y="3300984"/>
            <a:ext cx="4206240" cy="749808"/>
          </a:xfrm>
          <a:prstGeom prst="roundRect">
            <a:avLst>
              <a:gd name="adj" fmla="val 6098"/>
            </a:avLst>
          </a:prstGeom>
          <a:solidFill>
            <a:srgbClr val="EBF5F4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828032" y="3383280"/>
            <a:ext cx="384048" cy="566928"/>
          </a:xfrm>
          <a:prstGeom prst="roundRect">
            <a:avLst>
              <a:gd name="adj" fmla="val 9524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28032" y="3383280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Implementation Roadmap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03520" y="36850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</a:rPr>
              <a:t>Phases, timelines, deliverables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54880" y="4142232"/>
            <a:ext cx="4206240" cy="749808"/>
          </a:xfrm>
          <a:prstGeom prst="roundRect">
            <a:avLst>
              <a:gd name="adj" fmla="val 6098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828032" y="4224528"/>
            <a:ext cx="384048" cy="566928"/>
          </a:xfrm>
          <a:prstGeom prst="roundRect">
            <a:avLst>
              <a:gd name="adj" fmla="val 9524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28032" y="4224528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303520" y="4206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Why NexGen &amp; Next Steps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03520" y="4526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BB0"/>
                </a:solidFill>
              </a:rPr>
              <a:t>Our unique position · immediate actions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182880"/>
            <a:ext cx="2286000" cy="4389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1E3248">
                    <a:alpha val="38000"/>
                  </a:srgbClr>
                </a:solidFill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8A9BB0"/>
                </a:solidFill>
              </a:rPr>
              <a:t>NEXGEN  ·  SANDHA WOODWORKS  ·  DIGITAL TRANSFORMATION STRATEGY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Digital Transformation Vision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971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A6"/>
                </a:solidFill>
              </a:rPr>
              <a:t>From millwork showcase to integrated digital business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82461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1B2A"/>
                </a:solidFill>
              </a:rPr>
              <a:t>© 2026 NexGen Tech Solutions  ·  Confidential  ·  Prepared for </a:t>
            </a:r>
            <a:r>
              <a:rPr lang="en-US" sz="750" b="1" dirty="0" err="1">
                <a:solidFill>
                  <a:srgbClr val="0D1B2A"/>
                </a:solidFill>
              </a:rPr>
              <a:t>Sandha</a:t>
            </a:r>
            <a:r>
              <a:rPr lang="en-US" sz="750" b="1" dirty="0">
                <a:solidFill>
                  <a:srgbClr val="0D1B2A"/>
                </a:solidFill>
              </a:rPr>
              <a:t> Woodworks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The Strategic Vision — One Platform, Three Layers, Unlimited Scale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B4A6"/>
                </a:solidFill>
              </a:rPr>
              <a:t>Section 01 · Vision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1A2740"/>
                </a:solidFill>
              </a:rPr>
              <a:t>Sandha Woodworks is not building a website. It is building a digital business platform that starts as a world-class commercial showcase, expands into a fully integrated ERP for operations, and evolves into an AI-powered engine for growth — all on the same architecture, without rebuilding.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2743200" cy="3090672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2743200" cy="420624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1490472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Layer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768" y="1719072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Commerce Platform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" y="2505456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A6"/>
                </a:solidFill>
              </a:rPr>
              <a:t>Website · Mobile App · E-Commerce · Payments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9768" y="2834640"/>
            <a:ext cx="252374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740"/>
                </a:solidFill>
              </a:rPr>
              <a:t>A premium digital storefront that generates leads, processes orders, manages products, and delivers a world-class buyer experience — online and mobile.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44952" y="24688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46120" y="1444752"/>
            <a:ext cx="2743200" cy="3090672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46120" y="144475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46120" y="2029968"/>
            <a:ext cx="2743200" cy="420624"/>
          </a:xfrm>
          <a:prstGeom prst="rect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55848" y="1490472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Layer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55848" y="1719072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ERP Business Core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55848" y="2505456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A6"/>
                </a:solidFill>
              </a:rPr>
              <a:t>Operations · Finance · HR · CRM · Supply Chain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55848" y="2834640"/>
            <a:ext cx="252374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740"/>
                </a:solidFill>
              </a:rPr>
              <a:t>The same platform becomes the operational backbone — connecting buyers, inventory, finance, employees, and vendors into a single unified system.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71032" y="246888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BB0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0" y="1444752"/>
            <a:ext cx="2743200" cy="3090672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72200" y="144475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72200" y="2029968"/>
            <a:ext cx="2743200" cy="42062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81928" y="1490472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Layer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81928" y="1719072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AI Intelligence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81928" y="2505456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A6"/>
                </a:solidFill>
              </a:rPr>
              <a:t>Personalisation · Forecasting · Automation · Insights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81928" y="2834640"/>
            <a:ext cx="252374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740"/>
                </a:solidFill>
              </a:rPr>
              <a:t>AI operates across both layers — personalising buyer journeys, forecasting demand, automating operations, and delivering real-time executive intelligence.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645152"/>
            <a:ext cx="8503920" cy="201168"/>
          </a:xfrm>
          <a:prstGeom prst="roundRect">
            <a:avLst>
              <a:gd name="adj" fmla="val 18182"/>
            </a:avLst>
          </a:prstGeom>
          <a:solidFill>
            <a:srgbClr val="E8F8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65429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7A74"/>
                </a:solidFill>
              </a:rPr>
              <a:t>Architecture designed from Day 1 to support all three layers — no rebuilds, no migrations, no dead ends.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182880"/>
            <a:ext cx="2286000" cy="4389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1E3248">
                    <a:alpha val="38000"/>
                  </a:srgbClr>
                </a:solidFill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8A9BB0"/>
                </a:solidFill>
              </a:rPr>
              <a:t>NEXGEN  ·  SANDHA WOODWORKS  ·  DIGITAL TRANSFORMATION STRATEGY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The Transformation Journey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971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A6"/>
                </a:solidFill>
              </a:rPr>
              <a:t>A phased, realistic path from commerce to intelligent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9117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1B2A"/>
                </a:solidFill>
              </a:rPr>
              <a:t>© 2026 NexGen Tech Solutions  ·  Confidential  ·  Prepared for </a:t>
            </a:r>
            <a:r>
              <a:rPr lang="en-US" sz="750" b="1" dirty="0" err="1">
                <a:solidFill>
                  <a:srgbClr val="0D1B2A"/>
                </a:solidFill>
              </a:rPr>
              <a:t>Sandha</a:t>
            </a:r>
            <a:r>
              <a:rPr lang="en-US" sz="750" b="1" dirty="0">
                <a:solidFill>
                  <a:srgbClr val="0D1B2A"/>
                </a:solidFill>
              </a:rPr>
              <a:t> Woodworks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Platform Evolution Roadmap — 4 Phases Over 36 Months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B4A6"/>
                </a:solidFill>
              </a:rPr>
              <a:t>Section 02 · Journey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2487168"/>
            <a:ext cx="8503920" cy="91440"/>
          </a:xfrm>
          <a:prstGeom prst="rect">
            <a:avLst/>
          </a:prstGeom>
          <a:solidFill>
            <a:srgbClr val="D0DC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768096"/>
            <a:ext cx="1993392" cy="1536192"/>
          </a:xfrm>
          <a:prstGeom prst="roundRect">
            <a:avLst>
              <a:gd name="adj" fmla="val 4167"/>
            </a:avLst>
          </a:prstGeom>
          <a:solidFill>
            <a:srgbClr val="E8F8F7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81381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A6"/>
                </a:solidFill>
              </a:rPr>
              <a:t>Phase 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024128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Website + Mobile App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1261872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E-Commerce &amp; Payments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1480" y="1499616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Product Catalogue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11480" y="1737360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RFQ &amp; Lead Gen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11480" y="1975104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SEO &amp; Performance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280160" y="2377440"/>
            <a:ext cx="219456" cy="21945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4904" y="265176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A6"/>
                </a:solidFill>
              </a:rPr>
              <a:t>Commerce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B4A6"/>
                </a:solidFill>
              </a:rPr>
              <a:t>Foundation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" y="31089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0"/>
                </a:solidFill>
              </a:rPr>
              <a:t>Months 1–4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3383280"/>
            <a:ext cx="1993392" cy="1371600"/>
          </a:xfrm>
          <a:prstGeom prst="roundRect">
            <a:avLst>
              <a:gd name="adj" fmla="val 4667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419856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B4A6"/>
                </a:solidFill>
              </a:rPr>
              <a:t>Business Outcomes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11480" y="3639312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✓ Buyer-facing platform live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11480" y="3895344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✓ All online channels active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11480" y="4151376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✓ Full mobile commerce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11480" y="4407408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✓ CMS &amp; content team ready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468880" y="768096"/>
            <a:ext cx="1993392" cy="1536192"/>
          </a:xfrm>
          <a:prstGeom prst="roundRect">
            <a:avLst>
              <a:gd name="adj" fmla="val 4167"/>
            </a:avLst>
          </a:prstGeom>
          <a:solidFill>
            <a:srgbClr val="EEF2F8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60320" y="81381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248"/>
                </a:solidFill>
              </a:rPr>
              <a:t>Phase 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60320" y="1024128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Inventory &amp; Warehouse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60320" y="1261872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Finance &amp; Invoicing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560320" y="1499616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HR &amp; Attendance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560320" y="1737360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CRM &amp; Sales Pipeline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60320" y="1975104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Vendor Management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429000" y="2377440"/>
            <a:ext cx="219456" cy="219456"/>
          </a:xfrm>
          <a:prstGeom prst="ellipse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23744" y="265176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248"/>
                </a:solidFill>
              </a:rPr>
              <a:t>ERP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3248"/>
                </a:solidFill>
              </a:rPr>
              <a:t>Enablement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523744" y="31089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0"/>
                </a:solidFill>
              </a:rPr>
              <a:t>Months 5–12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68880" y="3383280"/>
            <a:ext cx="1993392" cy="1371600"/>
          </a:xfrm>
          <a:prstGeom prst="roundRect">
            <a:avLst>
              <a:gd name="adj" fmla="val 4667"/>
            </a:avLst>
          </a:prstGeom>
          <a:solidFill>
            <a:srgbClr val="F0F4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560320" y="3419856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248"/>
                </a:solidFill>
              </a:rPr>
              <a:t>Business Outcomes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560320" y="3639312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✓ Online + offline buyers unified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560320" y="3895344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✓ Operations digitised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560320" y="4151376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✓ Single system of record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560320" y="4407408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✓ Finance &amp; HR integrated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17720" y="768096"/>
            <a:ext cx="1993392" cy="1536192"/>
          </a:xfrm>
          <a:prstGeom prst="roundRect">
            <a:avLst>
              <a:gd name="adj" fmla="val 4167"/>
            </a:avLst>
          </a:prstGeom>
          <a:solidFill>
            <a:srgbClr val="E8F8F7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09160" y="81381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Phase 03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1024128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Personalised Recommendations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709160" y="1261872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Dynamic Pricing &amp; Promos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709160" y="1499616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Demand Forecasting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09160" y="1737360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Customer Behaviour AI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09160" y="1975104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Predictive Analytics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577840" y="2377440"/>
            <a:ext cx="219456" cy="219456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672584" y="265176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Transformation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672584" y="31089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0"/>
                </a:solidFill>
              </a:rPr>
              <a:t>Months 13–24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617720" y="3383280"/>
            <a:ext cx="1993392" cy="1371600"/>
          </a:xfrm>
          <a:prstGeom prst="roundRect">
            <a:avLst>
              <a:gd name="adj" fmla="val 4667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09160" y="3419856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1B2A"/>
                </a:solidFill>
              </a:rPr>
              <a:t>Business Outcomes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709160" y="3639312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✓ Automated promotions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709160" y="3895344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✓ AI-powered customer journeys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709160" y="4151376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✓ Demand-driven inventory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709160" y="4407408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✓ Executive AI dashboards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766560" y="768096"/>
            <a:ext cx="1993392" cy="1536192"/>
          </a:xfrm>
          <a:prstGeom prst="roundRect">
            <a:avLst>
              <a:gd name="adj" fmla="val 4167"/>
            </a:avLst>
          </a:prstGeom>
          <a:solidFill>
            <a:srgbClr val="EEF2F8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858000" y="813816"/>
            <a:ext cx="1810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A74"/>
                </a:solidFill>
              </a:rPr>
              <a:t>Phase 04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858000" y="1024128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AI Operating Across All Layers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858000" y="1261872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Full Business Intelligence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858000" y="1499616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Strategic Automation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858000" y="1737360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Innovation Velocity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858000" y="1975104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Continuous Optimisation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726680" y="2377440"/>
            <a:ext cx="219456" cy="219456"/>
          </a:xfrm>
          <a:prstGeom prst="ellipse">
            <a:avLst/>
          </a:prstGeom>
          <a:solidFill>
            <a:srgbClr val="D4AC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821424" y="265176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A74"/>
                </a:solidFill>
              </a:rPr>
              <a:t>Unified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7A74"/>
                </a:solidFill>
              </a:rPr>
              <a:t>Ecosystem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821424" y="310896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0"/>
                </a:solidFill>
              </a:rPr>
              <a:t>Months 25–36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766560" y="3383280"/>
            <a:ext cx="1993392" cy="1371600"/>
          </a:xfrm>
          <a:prstGeom prst="roundRect">
            <a:avLst>
              <a:gd name="adj" fmla="val 4667"/>
            </a:avLst>
          </a:prstGeom>
          <a:solidFill>
            <a:srgbClr val="F0F4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858000" y="3419856"/>
            <a:ext cx="1810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A74"/>
                </a:solidFill>
              </a:rPr>
              <a:t>Business Outcomes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858000" y="3639312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✓ Single platform = full visibility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858000" y="3895344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✓ AI runs commerce + ops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858000" y="4151376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✓ Self-optimising business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858000" y="4407408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✓ Market leadership position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2423160" y="2420985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0"/>
                </a:solidFill>
              </a:rPr>
              <a:t>▶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572000" y="2420985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0"/>
                </a:solidFill>
              </a:rPr>
              <a:t>▶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720840" y="241227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0"/>
                </a:solidFill>
              </a:rPr>
              <a:t>▶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Capability Maturity Model — How the Platform Grows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B4A6"/>
                </a:solidFill>
              </a:rPr>
              <a:t>Section 02 · Maturity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740"/>
                </a:solidFill>
              </a:rPr>
              <a:t>At each phase, Sandha's digital capability matures — gaining new business levers, operational efficiencies, and competitive advantages that compound over time.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80160"/>
          <a:ext cx="8522208" cy="3291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Business Domain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7A74"/>
                          </a:solidFill>
                        </a:rPr>
                        <a:t>Phase 1 — Commerce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E3248"/>
                          </a:solidFill>
                        </a:rPr>
                        <a:t>Phase 2 — ERP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6C3483"/>
                          </a:solidFill>
                        </a:rPr>
                        <a:t>Phase 3 — AI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D4AC0D"/>
                          </a:solidFill>
                        </a:rPr>
                        <a:t>Phase 4 — Unified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Customer Experience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Branded website + mobile app. Portfolio gallery. RFQ form. Contact &amp; enquiry flows.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Unified buyer profiles: online + offline. Order history. Account portal.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AI-personalised journeys. Intelligent product discovery. Proactive promotions.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Predictive CX. AI anticipates needs before buyer acts.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Commerce &amp; Revenue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Product catalogue, cart, checkout, payments, shipping. All standard e-commerce capabilities.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B2B pricing. Credit terms. Invoice management. Sales pipeline in same system.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Dynamic pricing. Automated discounts. Abandonment recovery. Upsell engine.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AI-optimised pricing, promotions &amp; conversion — fully autonomous.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Operations &amp; Supply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CMS-driven inventory visibility (read-only). Basic order fulfilment workflows.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Full inventory, warehouse, procurement, vendor management. Real stock levels.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Demand forecasting. Reorder automation. Supplier performance AI.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Self-managing supply chain. Autonomous procurement triggers.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Finance &amp; Reporting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Revenue reporting. Payment reconciliation. Basic dashboard.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Full accounting, invoicing, billing, budget management integrated.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Financial forecasting. Variance detection. Automated financial reports.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AI CFO-level insights. Risk prediction. Automated strategy recommendations.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People &amp; HR</a:t>
                      </a:r>
                      <a:endParaRPr lang="en-US" sz="8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Careers page. Job postings. Team profiles.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Employee management, leave, attendance, recruitment, performance — in platform.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Workforce planning AI. Skill gap detection. Performance prediction.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A2740"/>
                          </a:solidFill>
                        </a:rPr>
                        <a:t>Automated HR intelligence. Retention risk alerts. Capacity optimisation.</a:t>
                      </a:r>
                      <a:endParaRPr lang="en-US" sz="75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182880"/>
            <a:ext cx="2286000" cy="4389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1E3248">
                    <a:alpha val="38000"/>
                  </a:srgbClr>
                </a:solidFill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8A9BB0"/>
                </a:solidFill>
              </a:rPr>
              <a:t>NEXGEN  ·  SANDHA WOODWORKS  ·  DIGITAL TRANSFORMATION STRATEGY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Phase 1 — Commerce Foundation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971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A6"/>
                </a:solidFill>
              </a:rPr>
              <a:t>Website · Mobile App · E-Commerce · Payments · Lead Generation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9117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1B2A"/>
                </a:solidFill>
              </a:rPr>
              <a:t>© 2026 NexGen Tech Solutions  ·  Confidential  ·  Prepared for </a:t>
            </a:r>
            <a:r>
              <a:rPr lang="en-US" sz="750" b="1" dirty="0" err="1">
                <a:solidFill>
                  <a:srgbClr val="0D1B2A"/>
                </a:solidFill>
              </a:rPr>
              <a:t>Sandha</a:t>
            </a:r>
            <a:r>
              <a:rPr lang="en-US" sz="750" b="1" dirty="0">
                <a:solidFill>
                  <a:srgbClr val="0D1B2A"/>
                </a:solidFill>
              </a:rPr>
              <a:t> Woodworks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Phase 1A — Website: Full Feature Scope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B4A6"/>
                </a:solidFill>
              </a:rPr>
              <a:t>Section 03 · Phase 1 · Commerce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768096"/>
            <a:ext cx="2743200" cy="4041648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768096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932688"/>
            <a:ext cx="2743200" cy="18288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795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Brand &amp; Content Pages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207008"/>
            <a:ext cx="128016" cy="12801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11887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Full-screen hero video (brand film)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11480" y="1481328"/>
            <a:ext cx="128016" cy="12801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1463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Corporate story &amp; about section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11480" y="1755648"/>
            <a:ext cx="128016" cy="12801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17373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Team &amp; leadership profiles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11480" y="2029968"/>
            <a:ext cx="128016" cy="12801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2011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Manufacturing facility showcase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11480" y="2304288"/>
            <a:ext cx="128016" cy="12801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2286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CNC &amp; engineering capabilities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11480" y="2578608"/>
            <a:ext cx="128016" cy="12801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25603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Finishing &amp; paint department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11480" y="2852928"/>
            <a:ext cx="128016" cy="12801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28346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Project management &amp; installation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411480" y="3127248"/>
            <a:ext cx="128016" cy="12801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3108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Certifications &amp; memberships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11480" y="3401568"/>
            <a:ext cx="128016" cy="12801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3383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Careers portal with job listings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11480" y="3675888"/>
            <a:ext cx="128016" cy="128016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" y="36576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Sustainability &amp; ESG section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3246120" y="768096"/>
            <a:ext cx="2743200" cy="4041648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46120" y="768096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46120" y="932688"/>
            <a:ext cx="2743200" cy="182880"/>
          </a:xfrm>
          <a:prstGeom prst="rect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37560" y="795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Portfolio &amp; Discovery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37560" y="1207008"/>
            <a:ext cx="128016" cy="128016"/>
          </a:xfrm>
          <a:prstGeom prst="ellipse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520440" y="11887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Project portfolio (sector + material filter)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3337560" y="1481328"/>
            <a:ext cx="128016" cy="128016"/>
          </a:xfrm>
          <a:prstGeom prst="ellipse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520440" y="1463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Individual project case study pages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3337560" y="1755648"/>
            <a:ext cx="128016" cy="128016"/>
          </a:xfrm>
          <a:prstGeom prst="ellipse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520440" y="17373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Industries served: 7 sector pages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3337560" y="2029968"/>
            <a:ext cx="128016" cy="128016"/>
          </a:xfrm>
          <a:prstGeom prst="ellipse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520440" y="2011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Before / during / after sequences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3337560" y="2304288"/>
            <a:ext cx="128016" cy="128016"/>
          </a:xfrm>
          <a:prstGeom prst="ellipse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520440" y="2286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Downloadable capability statements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3337560" y="2578608"/>
            <a:ext cx="128016" cy="128016"/>
          </a:xfrm>
          <a:prstGeom prst="ellipse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520440" y="25603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Materials &amp; finishes reference library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3337560" y="2852928"/>
            <a:ext cx="128016" cy="128016"/>
          </a:xfrm>
          <a:prstGeom prst="ellipse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520440" y="28346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BIM / CAD file resource hub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3337560" y="3127248"/>
            <a:ext cx="128016" cy="128016"/>
          </a:xfrm>
          <a:prstGeom prst="ellipse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520440" y="3108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Awards &amp; recognition showcase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3337560" y="3401568"/>
            <a:ext cx="128016" cy="128016"/>
          </a:xfrm>
          <a:prstGeom prst="ellipse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520440" y="3383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Client logo wall &amp; testimonials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3337560" y="3675888"/>
            <a:ext cx="128016" cy="128016"/>
          </a:xfrm>
          <a:prstGeom prst="ellipse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520440" y="36576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Video content integration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6172200" y="768096"/>
            <a:ext cx="2743200" cy="4041648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172200" y="768096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172200" y="932688"/>
            <a:ext cx="2743200" cy="1828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263640" y="795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Lead Gen &amp; Commerce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63640" y="1207008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46520" y="11887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Multi-step RFQ form + HubSpot CRM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6263640" y="1481328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446520" y="1463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Product &amp; commodity catalogue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6263640" y="1755648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446520" y="17373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Product search &amp; advanced filtering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6263640" y="2029968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446520" y="2011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Product detail pages with specs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6263640" y="2304288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446520" y="2286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Shopping cart &amp; wishlist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6263640" y="2578608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446520" y="25603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Checkout workflow &amp; order management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6263640" y="2852928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446520" y="28346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Payment gateway integration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6263640" y="3127248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446520" y="3108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Tax calculation engine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6263640" y="3401568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446520" y="3383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Shipping integration &amp; delivery tracking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6263640" y="3675888"/>
            <a:ext cx="128016" cy="128016"/>
          </a:xfrm>
          <a:prstGeom prst="ellipse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446520" y="36576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Live chat / WhatsApp + AI chatbot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Phase 1B — Mobile App &amp; Platform Architecture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B4A6"/>
                </a:solidFill>
              </a:rPr>
              <a:t>Section 03 · Phase 1 · Mobile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6809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Mobile Application (iOS &amp; Android)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24712"/>
            <a:ext cx="4206240" cy="402336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1243584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11704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Native Experience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13441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React Native (Expo) — single codebase for iOS and Android. App Store + Play Store.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" y="1581912"/>
            <a:ext cx="4206240" cy="402336"/>
          </a:xfrm>
          <a:prstGeom prst="roundRect">
            <a:avLst>
              <a:gd name="adj" fmla="val 11364"/>
            </a:avLst>
          </a:prstGeom>
          <a:solidFill>
            <a:srgbClr val="EBF9F8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" y="1700784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16276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Product Browsing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18013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Full catalogue with category navigation, search, advanced filters, and product detail pages.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" y="2039112"/>
            <a:ext cx="4206240" cy="402336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4048" y="2157984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20848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Cart &amp; Checkout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1792" y="22585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Persistent cart synced with web. Secure checkout. Multiple payment methods. Order confirmation.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0040" y="2496312"/>
            <a:ext cx="4206240" cy="402336"/>
          </a:xfrm>
          <a:prstGeom prst="roundRect">
            <a:avLst>
              <a:gd name="adj" fmla="val 11364"/>
            </a:avLst>
          </a:prstGeom>
          <a:solidFill>
            <a:srgbClr val="EBF9F8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4048" y="2615184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Secure Payments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1792" y="27157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PCI-DSS compliant gateway. Apple Pay, Google Pay, card, net banking support.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0040" y="2953512"/>
            <a:ext cx="4206240" cy="402336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4048" y="3072384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" y="29992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Push Notifications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1792" y="31729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Targeted alerts: order updates, promotions, price drops, restock, cart abandonment recovery.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" y="3410712"/>
            <a:ext cx="4206240" cy="402336"/>
          </a:xfrm>
          <a:prstGeom prst="roundRect">
            <a:avLst>
              <a:gd name="adj" fmla="val 11364"/>
            </a:avLst>
          </a:prstGeom>
          <a:solidFill>
            <a:srgbClr val="EBF9F8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84048" y="3529584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1792" y="34564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Order Tracking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36301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Real-time delivery tracking. Status updates. Delivery ETA. Returns initiation.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0040" y="3867912"/>
            <a:ext cx="4206240" cy="402336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84048" y="3986784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1792" y="39136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Account Management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1792" y="40873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Profile, order history, saved addresses, wishlist, loyalty points, preferences.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0040" y="4325112"/>
            <a:ext cx="4206240" cy="402336"/>
          </a:xfrm>
          <a:prstGeom prst="roundRect">
            <a:avLst>
              <a:gd name="adj" fmla="val 11364"/>
            </a:avLst>
          </a:prstGeom>
          <a:solidFill>
            <a:srgbClr val="EBF9F8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84048" y="4443984"/>
            <a:ext cx="164592" cy="164592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1792" y="43708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Promotions &amp; Offers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1792" y="45445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Coupon codes, flash sales, personalised offers, referral programme support.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09160" y="7680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Phase 1 Platform Architecture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09160" y="1124712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73168" y="11612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A6"/>
                </a:solidFill>
              </a:rPr>
              <a:t>Frontend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833872" y="116128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Next.js (React) on Vercel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406640" y="1161288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Static gen, ISR, edge CDN, Core Web Vitals optimised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709160" y="1545336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73168" y="158191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A6"/>
                </a:solidFill>
              </a:rPr>
              <a:t>Mobile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833872" y="158191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React Native (Expo)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406640" y="158191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iOS + Android from single codebase, OTA updates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709160" y="1965960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73168" y="20025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A6"/>
                </a:solidFill>
              </a:rPr>
              <a:t>CMS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833872" y="200253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Sanity.io (Headless)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406640" y="200253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Real-time preview, structured content, image CDN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709160" y="2386584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773168" y="2423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A6"/>
                </a:solidFill>
              </a:rPr>
              <a:t>Commerce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833872" y="242316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Custom + Stripe / Razorpay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406640" y="242316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Catalogue, cart, checkout, payments, tax, shipping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709160" y="2807208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773168" y="284378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A6"/>
                </a:solidFill>
              </a:rPr>
              <a:t>Media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833872" y="284378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Cloudinary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406640" y="2843784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Auto WebP, responsive srcsets, lazy loading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709160" y="3227832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773168" y="32644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A6"/>
                </a:solidFill>
              </a:rPr>
              <a:t>CRM / Forms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833872" y="32644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HubSpot CRM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406640" y="3264408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RFQ → deal pipeline, email nurture, contact DB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709160" y="3648456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773168" y="36850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A6"/>
                </a:solidFill>
              </a:rPr>
              <a:t>Analytics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833872" y="36850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GA4 + Google Tag Manager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406640" y="368503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Conversion tracking, RFQ submissions, scroll depth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709160" y="4069080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773168" y="410565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A6"/>
                </a:solidFill>
              </a:rPr>
              <a:t>Security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833872" y="410565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Cloudflare WAF + SSL + HSTS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406640" y="410565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DDoS protection, bot filtering, force HTTPS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709160" y="4489704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773168" y="452628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B4A6"/>
                </a:solidFill>
              </a:rPr>
              <a:t>Hosting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833872" y="45262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Vercel + AWS S3 Canada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406640" y="452628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Canadian data residency, 99.99% SLA, global CDN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182880"/>
            <a:ext cx="2286000" cy="4389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1E3248">
                    <a:alpha val="38000"/>
                  </a:srgbClr>
                </a:solidFill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8A9BB0"/>
                </a:solidFill>
              </a:rPr>
              <a:t>NEXGEN  ·  SANDHA WOODWORKS  ·  DIGITAL TRANSFORMATION STRATEGY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Phase 2 — ERP Enablement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971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A6"/>
                </a:solidFill>
              </a:rPr>
              <a:t>Operations · Finance · HR · CRM · Supply Chain — one unified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99879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1B2A"/>
                </a:solidFill>
              </a:rPr>
              <a:t>© 2026 NexGen Tech Solutions  ·  Confidential  ·  Prepared for </a:t>
            </a:r>
            <a:r>
              <a:rPr lang="en-US" sz="750" b="1" dirty="0" err="1">
                <a:solidFill>
                  <a:srgbClr val="0D1B2A"/>
                </a:solidFill>
              </a:rPr>
              <a:t>Sandha</a:t>
            </a:r>
            <a:r>
              <a:rPr lang="en-US" sz="750" b="1" dirty="0">
                <a:solidFill>
                  <a:srgbClr val="0D1B2A"/>
                </a:solidFill>
              </a:rPr>
              <a:t> Woodworks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Phase 2 — ERP: All Buyers &amp; Operations in One System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B4A6"/>
                </a:solidFill>
              </a:rPr>
              <a:t>Section 04 · Phase 2 · ERP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740"/>
                </a:solidFill>
              </a:rPr>
              <a:t>The commerce platform becomes the operational backbone. Online buyers, offline buyers, inventory, finance, HR, and vendors all flow through the same system — giving Sandha complete business visibility for the first time.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2697480" cy="1481328"/>
          </a:xfrm>
          <a:prstGeom prst="roundRect">
            <a:avLst>
              <a:gd name="adj" fmla="val 4321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2697480" cy="310896"/>
          </a:xfrm>
          <a:prstGeom prst="roundRect">
            <a:avLst>
              <a:gd name="adj" fmla="val 20588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517904"/>
            <a:ext cx="2697480" cy="164592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42646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Operations &amp; Supply Chain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73736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Inventory management &amp; real-time stock levels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411480" y="192024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Warehouse management &amp; bin locations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411480" y="21031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Procurement &amp; purchase orders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11480" y="228600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Vendor onboarding &amp; performance management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411480" y="246888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Supply chain visibility &amp; lead time tracking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11480" y="265176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Goods receipt &amp; quality control workflows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3246120" y="1371600"/>
            <a:ext cx="2697480" cy="1481328"/>
          </a:xfrm>
          <a:prstGeom prst="roundRect">
            <a:avLst>
              <a:gd name="adj" fmla="val 4321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46120" y="1371600"/>
            <a:ext cx="2697480" cy="310896"/>
          </a:xfrm>
          <a:prstGeom prst="roundRect">
            <a:avLst>
              <a:gd name="adj" fmla="val 20588"/>
            </a:avLst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46120" y="1517904"/>
            <a:ext cx="2697480" cy="164592"/>
          </a:xfrm>
          <a:prstGeom prst="rect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37560" y="142646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Finance &amp; Accounting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173736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Full accounting (P&amp;L, balance sheet, cash flow)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3337560" y="192024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Customer invoicing &amp; automated billing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3337560" y="21031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Vendor payment management &amp; AP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3337560" y="228600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Budget management &amp; variance tracking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3337560" y="246888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Tax management &amp; compliance reporting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3337560" y="265176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Financial dashboards &amp; consolidated reporting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6172200" y="1371600"/>
            <a:ext cx="2697480" cy="1481328"/>
          </a:xfrm>
          <a:prstGeom prst="roundRect">
            <a:avLst>
              <a:gd name="adj" fmla="val 4321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72200" y="1371600"/>
            <a:ext cx="2697480" cy="310896"/>
          </a:xfrm>
          <a:prstGeom prst="roundRect">
            <a:avLst>
              <a:gd name="adj" fmla="val 20588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72200" y="1517904"/>
            <a:ext cx="2697480" cy="16459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63640" y="142646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Human Resources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173736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Employee records &amp; digital HR files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6263640" y="192024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Leave management &amp; approval workflows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6263640" y="210312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Attendance &amp; timesheet tracking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6263640" y="228600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Recruitment pipeline management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6263640" y="246888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Performance review &amp; goal management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6263640" y="265176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Payroll integration &amp; compliance tracking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1600200" y="3035808"/>
            <a:ext cx="2697480" cy="1481328"/>
          </a:xfrm>
          <a:prstGeom prst="roundRect">
            <a:avLst>
              <a:gd name="adj" fmla="val 4321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600200" y="3035808"/>
            <a:ext cx="2697480" cy="310896"/>
          </a:xfrm>
          <a:prstGeom prst="roundRect">
            <a:avLst>
              <a:gd name="adj" fmla="val 20588"/>
            </a:avLst>
          </a:prstGeom>
          <a:solidFill>
            <a:srgbClr val="007A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600200" y="3182112"/>
            <a:ext cx="2697480" cy="164592"/>
          </a:xfrm>
          <a:prstGeom prst="rect">
            <a:avLst/>
          </a:prstGeom>
          <a:solidFill>
            <a:srgbClr val="007A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691640" y="309067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CRM &amp; Sales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691640" y="340156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Online + offline buyer unified profiles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1691640" y="358444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Lead capture &amp; qualification management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1691640" y="376732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Sales pipeline &amp; deal tracking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1691640" y="395020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Customer lifecycle &amp; retention management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1691640" y="413308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Quotation &amp; proposal management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1691640" y="431596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Customer communication history &amp; notes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4526280" y="3035808"/>
            <a:ext cx="2697480" cy="1481328"/>
          </a:xfrm>
          <a:prstGeom prst="roundRect">
            <a:avLst>
              <a:gd name="adj" fmla="val 4321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526280" y="3035808"/>
            <a:ext cx="2697480" cy="310896"/>
          </a:xfrm>
          <a:prstGeom prst="roundRect">
            <a:avLst>
              <a:gd name="adj" fmla="val 20588"/>
            </a:avLst>
          </a:prstGeom>
          <a:solidFill>
            <a:srgbClr val="4A6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526280" y="3182112"/>
            <a:ext cx="2697480" cy="164592"/>
          </a:xfrm>
          <a:prstGeom prst="rect">
            <a:avLst/>
          </a:prstGeom>
          <a:solidFill>
            <a:srgbClr val="4A6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617720" y="309067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 &amp; Delivery Mgmt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17720" y="340156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Project creation &amp; milestone management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4617720" y="358444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Resource allocation &amp; capacity planning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4617720" y="376732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Delivery governance &amp; SLA tracking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617720" y="395020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Cross-team coordination &amp; task assignment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4617720" y="413308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Document management &amp; version control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4617720" y="4315968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Client communication portal &amp; approvals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Phase 2 — The Key Insight: Online &amp; Offline Buyers in One System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B4A6"/>
                </a:solidFill>
              </a:rPr>
              <a:t>Section 04 · ERP Integration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768096"/>
            <a:ext cx="8503920" cy="548640"/>
          </a:xfrm>
          <a:prstGeom prst="roundRect">
            <a:avLst>
              <a:gd name="adj" fmla="val 11667"/>
            </a:avLst>
          </a:prstGeom>
          <a:solidFill>
            <a:srgbClr val="EBF9F8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07A74"/>
                </a:solidFill>
              </a:rPr>
              <a:t>The most powerful business advantage of Phase 2: every buyer — whether they order through the website, mobile app, phone, showroom, or trade counter — lives in the same system. This gives Sandha a 360° view of every customer relationship.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44475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What the system unifies: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EBF9F8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83794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A6"/>
                </a:solidFill>
              </a:rPr>
              <a:t>Online Buyers (Website)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740"/>
                </a:solidFill>
              </a:rPr>
              <a:t>Digital orders, cart, checkout, payment history, delivery status — all captured automatically.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25146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56946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A6"/>
                </a:solidFill>
              </a:rPr>
              <a:t>Mobile App Buyers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740"/>
                </a:solidFill>
              </a:rPr>
              <a:t>App sessions, browsing behaviour, purchase history, push notification engagement tracked.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324612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EBF9F8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30098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A6"/>
                </a:solidFill>
              </a:rPr>
              <a:t>B2B Portal Buyers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52044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740"/>
                </a:solidFill>
              </a:rPr>
              <a:t>Credit accounts, bulk orders, custom pricing, invoice downloads — all in same customer record.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397764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03250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A6"/>
                </a:solidFill>
              </a:rPr>
              <a:t>Repeat Buyers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740"/>
                </a:solidFill>
              </a:rPr>
              <a:t>System identifies returning buyers, surfaces order history, auto-applies loyalty pricing.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09160" y="178308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EDF3F8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183794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248"/>
                </a:solidFill>
              </a:rPr>
              <a:t>Offline / Trade Buyers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05740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740"/>
                </a:solidFill>
              </a:rPr>
              <a:t>Walk-in, phone, or site visit orders entered manually — same customer profile, same history.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09160" y="25146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256946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248"/>
                </a:solidFill>
              </a:rPr>
              <a:t>Contractor / GC Accounts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278892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740"/>
                </a:solidFill>
              </a:rPr>
              <a:t>Project-based accounts with milestones, drawings, approvals, and invoices linked to jobs.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09160" y="324612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EDF3F8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0" y="330098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248"/>
                </a:solidFill>
              </a:rPr>
              <a:t>Vendor Relationships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352044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740"/>
                </a:solidFill>
              </a:rPr>
              <a:t>Supplier performance, purchase history, payment terms, and scorecards in the same system.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397764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403250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248"/>
                </a:solidFill>
              </a:rPr>
              <a:t>Employee-Initiated Sales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425196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740"/>
                </a:solidFill>
              </a:rPr>
              <a:t>Internal quotes, estimates, and project orders raised by team — visible in the same platform.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15968" y="2468880"/>
            <a:ext cx="512064" cy="512064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315968" y="24688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ONE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SYSTEM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182880"/>
            <a:ext cx="2286000" cy="4389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1E3248">
                    <a:alpha val="38000"/>
                  </a:srgbClr>
                </a:solidFill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8A9BB0"/>
                </a:solidFill>
              </a:rPr>
              <a:t>NEXGEN  ·  SANDHA WOODWORKS  ·  DIGITAL TRANSFORMATION STRATEGY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Phase 3 — AI-Powered Transformation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971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A6"/>
                </a:solidFill>
              </a:rPr>
              <a:t>Personalisation · Forecasting · Automation · Executive Intelligence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9117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1B2A"/>
                </a:solidFill>
              </a:rPr>
              <a:t>© 2026 NexGen Tech Solutions  ·  Confidential  ·  Prepared for </a:t>
            </a:r>
            <a:r>
              <a:rPr lang="en-US" sz="750" b="1" dirty="0" err="1">
                <a:solidFill>
                  <a:srgbClr val="0D1B2A"/>
                </a:solidFill>
              </a:rPr>
              <a:t>Sandha</a:t>
            </a:r>
            <a:r>
              <a:rPr lang="en-US" sz="750" b="1" dirty="0">
                <a:solidFill>
                  <a:srgbClr val="0D1B2A"/>
                </a:solidFill>
              </a:rPr>
              <a:t> Woodworks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Phase 3 — AI Commerce: Personalise, Convert, Retain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B4A6"/>
                </a:solidFill>
              </a:rPr>
              <a:t>Section 05 · Phase 3 · AI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740"/>
                </a:solidFill>
              </a:rPr>
              <a:t>AI operates across every buyer touchpoint — identifying returning users, understanding behaviour, dynamically adjusting pricing and promotions, and delivering the right message at the right moment.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307592"/>
            <a:ext cx="2743200" cy="1591056"/>
          </a:xfrm>
          <a:prstGeom prst="roundRect">
            <a:avLst>
              <a:gd name="adj" fmla="val 4023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307592"/>
            <a:ext cx="2743200" cy="310896"/>
          </a:xfrm>
          <a:prstGeom prst="roundRect">
            <a:avLst>
              <a:gd name="adj" fmla="val 20588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463040"/>
            <a:ext cx="2743200" cy="155448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37160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Personalised Recommendations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6916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'Customers also viewed' engine using collaborative filtering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411480" y="19202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Recently browsed items resurface across sessions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411480" y="21488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'Complete the look' cross-sell on product detail pages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11480" y="23774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Email digests of recommended products by segment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411480" y="26060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Returning visitor homepage adapts to browsing history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3246120" y="1307592"/>
            <a:ext cx="2743200" cy="1591056"/>
          </a:xfrm>
          <a:prstGeom prst="roundRect">
            <a:avLst>
              <a:gd name="adj" fmla="val 4023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46120" y="1307592"/>
            <a:ext cx="2743200" cy="310896"/>
          </a:xfrm>
          <a:prstGeom prst="roundRect">
            <a:avLst>
              <a:gd name="adj" fmla="val 20588"/>
            </a:avLst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46120" y="1463040"/>
            <a:ext cx="2743200" cy="155448"/>
          </a:xfrm>
          <a:prstGeom prst="rect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37560" y="137160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Dynamic Pricing &amp; Promotions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37560" y="16916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Rules-based dynamic pricing by segment, volume, or time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337560" y="19202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AI-suggested discount thresholds by product category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3337560" y="21488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Flash sale automation: trigger, run, close, report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3337560" y="23774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Intelligent coupon generation for at-risk buyers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3337560" y="26060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Competitive price monitoring signals for adjustment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6172200" y="1307592"/>
            <a:ext cx="2743200" cy="1591056"/>
          </a:xfrm>
          <a:prstGeom prst="roundRect">
            <a:avLst>
              <a:gd name="adj" fmla="val 4023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72200" y="1307592"/>
            <a:ext cx="2743200" cy="310896"/>
          </a:xfrm>
          <a:prstGeom prst="roundRect">
            <a:avLst>
              <a:gd name="adj" fmla="val 20588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72200" y="1463040"/>
            <a:ext cx="2743200" cy="1554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63640" y="137160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Customer Behaviour &amp; Retention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63640" y="16916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Identify returning users across devices and sessions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6263640" y="19202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Cart abandonment recovery: email + push + SMS sequence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6263640" y="21488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Churn prediction: flag buyers with declining engagement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6263640" y="23774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Loyalty tier management with automated upgrades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6263640" y="26060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Re-engagement campaigns for dormant accounts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320040" y="3026664"/>
            <a:ext cx="2743200" cy="1591056"/>
          </a:xfrm>
          <a:prstGeom prst="roundRect">
            <a:avLst>
              <a:gd name="adj" fmla="val 4023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0040" y="3026664"/>
            <a:ext cx="2743200" cy="310896"/>
          </a:xfrm>
          <a:prstGeom prst="roundRect">
            <a:avLst>
              <a:gd name="adj" fmla="val 20588"/>
            </a:avLst>
          </a:prstGeom>
          <a:solidFill>
            <a:srgbClr val="007A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0040" y="3182112"/>
            <a:ext cx="2743200" cy="155448"/>
          </a:xfrm>
          <a:prstGeom prst="rect">
            <a:avLst/>
          </a:prstGeom>
          <a:solidFill>
            <a:srgbClr val="007A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11480" y="309067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Conversion Optimisation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11480" y="34107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A/B test every RFQ form, hero CTA, and pricing page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11480" y="36393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Heatmap + scroll depth analysis feeds AI suggestions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411480" y="38679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Exit-intent popups with AI-personalised offers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11480" y="40965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Real-time chatbot qualifies leads before human handoff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411480" y="43251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AI search: intent-based results, not just keyword match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3246120" y="3026664"/>
            <a:ext cx="2743200" cy="1591056"/>
          </a:xfrm>
          <a:prstGeom prst="roundRect">
            <a:avLst>
              <a:gd name="adj" fmla="val 4023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246120" y="3026664"/>
            <a:ext cx="2743200" cy="310896"/>
          </a:xfrm>
          <a:prstGeom prst="roundRect">
            <a:avLst>
              <a:gd name="adj" fmla="val 20588"/>
            </a:avLst>
          </a:prstGeom>
          <a:solidFill>
            <a:srgbClr val="4A6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246120" y="3182112"/>
            <a:ext cx="2743200" cy="155448"/>
          </a:xfrm>
          <a:prstGeom prst="rect">
            <a:avLst/>
          </a:prstGeom>
          <a:solidFill>
            <a:srgbClr val="4A6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337560" y="309067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Push Notifications &amp; Comms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337560" y="34107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Triggered push: price drop, restock, order update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3337560" y="36393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Segment-based promotional blasts (app + email)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3337560" y="38679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Post-purchase nurture: next order recommendation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3337560" y="40965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Review request automation after confirmed delivery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3337560" y="43251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Notification fatigue management: AI pacing engine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6172200" y="3026664"/>
            <a:ext cx="2743200" cy="1591056"/>
          </a:xfrm>
          <a:prstGeom prst="roundRect">
            <a:avLst>
              <a:gd name="adj" fmla="val 4023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172200" y="3026664"/>
            <a:ext cx="2743200" cy="310896"/>
          </a:xfrm>
          <a:prstGeom prst="roundRect">
            <a:avLst>
              <a:gd name="adj" fmla="val 20588"/>
            </a:avLst>
          </a:prstGeom>
          <a:solidFill>
            <a:srgbClr val="1543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172200" y="3182112"/>
            <a:ext cx="2743200" cy="155448"/>
          </a:xfrm>
          <a:prstGeom prst="rect">
            <a:avLst/>
          </a:prstGeom>
          <a:solidFill>
            <a:srgbClr val="1543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263640" y="309067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Commerce AI Analytics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263640" y="34107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Revenue attribution by channel, campaign, and buyer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6263640" y="36393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Product performance: views vs. purchases vs. returns</a:t>
            </a:r>
            <a:endParaRPr lang="en-US" sz="720" dirty="0"/>
          </a:p>
        </p:txBody>
      </p:sp>
      <p:sp>
        <p:nvSpPr>
          <p:cNvPr id="59" name="Text 57"/>
          <p:cNvSpPr/>
          <p:nvPr/>
        </p:nvSpPr>
        <p:spPr>
          <a:xfrm>
            <a:off x="6263640" y="38679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Buyer lifetime value scoring by segment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6263640" y="40965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Seasonal demand pattern visualisation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6263640" y="432511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1A2740"/>
                </a:solidFill>
              </a:rPr>
              <a:t>▸ AI-generated weekly sales briefing for leadership</a:t>
            </a:r>
            <a:endParaRPr lang="en-US" sz="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Phase 3 — AI ERP: Forecast, Optimise, Automate Operations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B4A6"/>
                </a:solidFill>
              </a:rPr>
              <a:t>Section 05 · Phase 3 · AI ERP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768096"/>
            <a:ext cx="2743200" cy="1938528"/>
          </a:xfrm>
          <a:prstGeom prst="roundRect">
            <a:avLst>
              <a:gd name="adj" fmla="val 3302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768096"/>
            <a:ext cx="2743200" cy="310896"/>
          </a:xfrm>
          <a:prstGeom prst="roundRect">
            <a:avLst>
              <a:gd name="adj" fmla="val 20588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923544"/>
            <a:ext cx="2743200" cy="155448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83210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Demand Forecasting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152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Historical sales patterns predict future demand by SKU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11480" y="1444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Seasonal and trend-adjusted forecasting models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1148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Supplier lead time × demand = automated reorder alerts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11480" y="2029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Demand signal from web traffic feeds inventory planning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1480" y="23225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Forecast accuracy dashboard with actuals vs. predicted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46120" y="768096"/>
            <a:ext cx="2743200" cy="1938528"/>
          </a:xfrm>
          <a:prstGeom prst="roundRect">
            <a:avLst>
              <a:gd name="adj" fmla="val 3302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46120" y="768096"/>
            <a:ext cx="2743200" cy="310896"/>
          </a:xfrm>
          <a:prstGeom prst="roundRect">
            <a:avLst>
              <a:gd name="adj" fmla="val 20588"/>
            </a:avLst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46120" y="923544"/>
            <a:ext cx="2743200" cy="155448"/>
          </a:xfrm>
          <a:prstGeom prst="rect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37560" y="83210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Inventory Optimisation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37560" y="1152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AI-recommended safety stock levels per product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337560" y="1444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Dead stock identification and clearance suggestions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3756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ABC analysis automated and refreshed weekly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37560" y="2029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Warehouse slotting optimisation based on velocity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37560" y="23225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Shrinkage and loss detection from variance patterns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172200" y="768096"/>
            <a:ext cx="2743200" cy="1938528"/>
          </a:xfrm>
          <a:prstGeom prst="roundRect">
            <a:avLst>
              <a:gd name="adj" fmla="val 3302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72200" y="768096"/>
            <a:ext cx="2743200" cy="310896"/>
          </a:xfrm>
          <a:prstGeom prst="roundRect">
            <a:avLst>
              <a:gd name="adj" fmla="val 20588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72200" y="923544"/>
            <a:ext cx="2743200" cy="1554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63640" y="83210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Procurement Intelligence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63640" y="1152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AI ranks vendors by delivery, quality, and price trends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63640" y="1444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Auto-generates POs when stock falls below AI threshold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26364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Spend analysis by category, vendor, and project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63640" y="2029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Contract expiry alerts with renegotiation recommendations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263640" y="23225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Risk flag: single-source dependencies detected automatically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0040" y="2852928"/>
            <a:ext cx="2743200" cy="1938528"/>
          </a:xfrm>
          <a:prstGeom prst="roundRect">
            <a:avLst>
              <a:gd name="adj" fmla="val 3302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0040" y="2852928"/>
            <a:ext cx="2743200" cy="310896"/>
          </a:xfrm>
          <a:prstGeom prst="roundRect">
            <a:avLst>
              <a:gd name="adj" fmla="val 20588"/>
            </a:avLst>
          </a:prstGeom>
          <a:solidFill>
            <a:srgbClr val="007A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0040" y="3008376"/>
            <a:ext cx="2743200" cy="155448"/>
          </a:xfrm>
          <a:prstGeom prst="rect">
            <a:avLst/>
          </a:prstGeom>
          <a:solidFill>
            <a:srgbClr val="007A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291693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Workforce Planning AI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11480" y="3236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Headcount optimisation based on order pipeline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11480" y="35295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Skills gap detection vs. upcoming project requirements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11480" y="38221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Overtime prediction and cost modelling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1148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Attrition risk scoring for each employee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11480" y="44074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Recruitment trigger when pipeline exceeds capacity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46120" y="2852928"/>
            <a:ext cx="2743200" cy="1938528"/>
          </a:xfrm>
          <a:prstGeom prst="roundRect">
            <a:avLst>
              <a:gd name="adj" fmla="val 3302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246120" y="2852928"/>
            <a:ext cx="2743200" cy="310896"/>
          </a:xfrm>
          <a:prstGeom prst="roundRect">
            <a:avLst>
              <a:gd name="adj" fmla="val 20588"/>
            </a:avLst>
          </a:prstGeom>
          <a:solidFill>
            <a:srgbClr val="4A6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246120" y="3008376"/>
            <a:ext cx="2743200" cy="155448"/>
          </a:xfrm>
          <a:prstGeom prst="rect">
            <a:avLst/>
          </a:prstGeom>
          <a:solidFill>
            <a:srgbClr val="4A6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337560" y="291693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Financial Intelligence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337560" y="3236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Revenue forecasting with confidence intervals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337560" y="35295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Cash flow prediction with 13-week rolling view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337560" y="38221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Anomaly detection: flags unusual transactions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33756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Budget vs. actual variance explained in plain language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337560" y="44074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AI-generated monthly financial commentary for leadership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172200" y="2852928"/>
            <a:ext cx="2743200" cy="1938528"/>
          </a:xfrm>
          <a:prstGeom prst="roundRect">
            <a:avLst>
              <a:gd name="adj" fmla="val 3302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172200" y="2852928"/>
            <a:ext cx="2743200" cy="310896"/>
          </a:xfrm>
          <a:prstGeom prst="roundRect">
            <a:avLst>
              <a:gd name="adj" fmla="val 20588"/>
            </a:avLst>
          </a:prstGeom>
          <a:solidFill>
            <a:srgbClr val="1543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172200" y="3008376"/>
            <a:ext cx="2743200" cy="155448"/>
          </a:xfrm>
          <a:prstGeom prst="rect">
            <a:avLst/>
          </a:prstGeom>
          <a:solidFill>
            <a:srgbClr val="1543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63640" y="291693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Executive AI Dashboard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263640" y="3236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Single view: commerce + operations + finance + people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263640" y="35295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KPI health scoring: Green / Amber / Red across all domains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263640" y="38221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Strategic alerts: declining margin, customer loss, cost spikes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26364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Automated board-ready reporting pack generation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263640" y="44074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Natural language query: 'Why did revenue dip in March?'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182880"/>
            <a:ext cx="2286000" cy="4389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1E3248">
                    <a:alpha val="38000"/>
                  </a:srgbClr>
                </a:solidFill>
              </a:rPr>
              <a:t>06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8A9BB0"/>
                </a:solidFill>
              </a:rPr>
              <a:t>NEXGEN  ·  SANDHA WOODWORKS  ·  DIGITAL TRANSFORMATION STRATEGY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Phase 4 — The Unified Digital Ecosystem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971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A6"/>
                </a:solidFill>
              </a:rPr>
              <a:t>Commerce + ERP + AI operating as one intelligent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9117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1B2A"/>
                </a:solidFill>
              </a:rPr>
              <a:t>© 2026 NexGen Tech Solutions  ·  Confidential  ·  Prepared for </a:t>
            </a:r>
            <a:r>
              <a:rPr lang="en-US" sz="750" b="1" dirty="0" err="1">
                <a:solidFill>
                  <a:srgbClr val="0D1B2A"/>
                </a:solidFill>
              </a:rPr>
              <a:t>Sandha</a:t>
            </a:r>
            <a:r>
              <a:rPr lang="en-US" sz="750" b="1" dirty="0">
                <a:solidFill>
                  <a:srgbClr val="0D1B2A"/>
                </a:solidFill>
              </a:rPr>
              <a:t> Woodworks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Phase 4 — The End State: One Platform, Full Intelligence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B4A6"/>
                </a:solidFill>
              </a:rPr>
              <a:t>Section 06 · Phase 4 · Unified Ecosystem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740"/>
                </a:solidFill>
              </a:rPr>
              <a:t>The fully unified state is not a distant aspiration — it is the logical outcome of building correctly from Day 1. By Phase 4, Sandha operates a single integrated platform where every business function is connected, every decision is AI-informed, and growth is self-reinforcing.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0D1B2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3716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UNIFIED DIGITAL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PLATFORM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A6"/>
                </a:solidFill>
              </a:rPr>
              <a:t>Commerce · ERP · AI · Mobile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0B4A6"/>
                </a:solidFill>
              </a:rPr>
              <a:t>All Channels · All Users · All Data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417320"/>
            <a:ext cx="1508760" cy="566928"/>
          </a:xfrm>
          <a:prstGeom prst="roundRect">
            <a:avLst>
              <a:gd name="adj" fmla="val 11290"/>
            </a:avLst>
          </a:prstGeom>
          <a:solidFill>
            <a:srgbClr val="00B4A6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141732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Online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Buyers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2606040"/>
            <a:ext cx="1508760" cy="566928"/>
          </a:xfrm>
          <a:prstGeom prst="roundRect">
            <a:avLst>
              <a:gd name="adj" fmla="val 11290"/>
            </a:avLst>
          </a:prstGeom>
          <a:solidFill>
            <a:srgbClr val="00B4A6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60604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Mobile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App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97280" y="3703320"/>
            <a:ext cx="1508760" cy="566928"/>
          </a:xfrm>
          <a:prstGeom prst="roundRect">
            <a:avLst>
              <a:gd name="adj" fmla="val 11290"/>
            </a:avLst>
          </a:prstGeom>
          <a:solidFill>
            <a:srgbClr val="1E3248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370332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Operations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&amp; Supply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91840" y="3858768"/>
            <a:ext cx="1508760" cy="566928"/>
          </a:xfrm>
          <a:prstGeom prst="roundRect">
            <a:avLst>
              <a:gd name="adj" fmla="val 11290"/>
            </a:avLst>
          </a:prstGeom>
          <a:solidFill>
            <a:srgbClr val="1E3248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3858768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Finance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&amp; Reporting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166360" y="3858768"/>
            <a:ext cx="1508760" cy="566928"/>
          </a:xfrm>
          <a:prstGeom prst="roundRect">
            <a:avLst>
              <a:gd name="adj" fmla="val 11290"/>
            </a:avLst>
          </a:prstGeom>
          <a:solidFill>
            <a:srgbClr val="0D1B2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66360" y="3858768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HR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Workforce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95160" y="3703320"/>
            <a:ext cx="1508760" cy="566928"/>
          </a:xfrm>
          <a:prstGeom prst="roundRect">
            <a:avLst>
              <a:gd name="adj" fmla="val 11290"/>
            </a:avLst>
          </a:prstGeom>
          <a:solidFill>
            <a:srgbClr val="007A74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95160" y="370332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AI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Intelligence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498080" y="2606040"/>
            <a:ext cx="1508760" cy="566928"/>
          </a:xfrm>
          <a:prstGeom prst="roundRect">
            <a:avLst>
              <a:gd name="adj" fmla="val 11290"/>
            </a:avLst>
          </a:prstGeom>
          <a:solidFill>
            <a:srgbClr val="007A74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98080" y="260604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Vendors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Suppliers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98080" y="1417320"/>
            <a:ext cx="1508760" cy="566928"/>
          </a:xfrm>
          <a:prstGeom prst="roundRect">
            <a:avLst>
              <a:gd name="adj" fmla="val 11290"/>
            </a:avLst>
          </a:prstGeom>
          <a:solidFill>
            <a:srgbClr val="00B4A6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98080" y="141732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Offline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Buyers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91840" y="1353312"/>
            <a:ext cx="2560320" cy="502920"/>
          </a:xfrm>
          <a:prstGeom prst="roundRect">
            <a:avLst>
              <a:gd name="adj" fmla="val 12727"/>
            </a:avLst>
          </a:prstGeom>
          <a:solidFill>
            <a:srgbClr val="D4AC0D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91840" y="135331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Executive Dashboard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617720"/>
            <a:ext cx="2103120" cy="237744"/>
          </a:xfrm>
          <a:prstGeom prst="roundRect">
            <a:avLst>
              <a:gd name="adj" fmla="val 15385"/>
            </a:avLst>
          </a:prstGeom>
          <a:solidFill>
            <a:srgbClr val="EB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" y="4626864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1A2740"/>
                </a:solidFill>
              </a:rPr>
              <a:t>Single source of truth: every buyer, order &amp; employee in one system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2532888" y="4617720"/>
            <a:ext cx="2103120" cy="237744"/>
          </a:xfrm>
          <a:prstGeom prst="roundRect">
            <a:avLst>
              <a:gd name="adj" fmla="val 15385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96896" y="4626864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1A2740"/>
                </a:solidFill>
              </a:rPr>
              <a:t>AI self-optimisation: commerce + ERP auto-tune without manual intervention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4745736" y="4617720"/>
            <a:ext cx="2103120" cy="237744"/>
          </a:xfrm>
          <a:prstGeom prst="roundRect">
            <a:avLst>
              <a:gd name="adj" fmla="val 15385"/>
            </a:avLst>
          </a:prstGeom>
          <a:solidFill>
            <a:srgbClr val="EB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9744" y="4626864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1A2740"/>
                </a:solidFill>
              </a:rPr>
              <a:t>360° customer intelligence: first visit → repeat purchase → advocacy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6958584" y="4617720"/>
            <a:ext cx="2103120" cy="237744"/>
          </a:xfrm>
          <a:prstGeom prst="roundRect">
            <a:avLst>
              <a:gd name="adj" fmla="val 15385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022592" y="4626864"/>
            <a:ext cx="19751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1A2740"/>
                </a:solidFill>
              </a:rPr>
              <a:t>Real-time executive AI: plain-language insights, always on</a:t>
            </a:r>
            <a:endParaRPr lang="en-US" sz="6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182880"/>
            <a:ext cx="2286000" cy="4389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1E3248">
                    <a:alpha val="38000"/>
                  </a:srgbClr>
                </a:solidFill>
              </a:rPr>
              <a:t>07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8A9BB0"/>
                </a:solidFill>
              </a:rPr>
              <a:t>NEXGEN  ·  SANDHA WOODWORKS  ·  DIGITAL TRANSFORMATION STRATEGY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Competitor &amp; Industry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971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A6"/>
                </a:solidFill>
              </a:rPr>
              <a:t>12 reference websites · best practices · feature benchmarks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7375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D1B2A"/>
                </a:solidFill>
              </a:rPr>
              <a:t>© 2026 NexGen Tech Solutions  ·  Confidential  ·  Prepared for </a:t>
            </a:r>
            <a:r>
              <a:rPr lang="en-US" sz="700" b="1" dirty="0" err="1">
                <a:solidFill>
                  <a:srgbClr val="0D1B2A"/>
                </a:solidFill>
              </a:rPr>
              <a:t>Sandha</a:t>
            </a:r>
            <a:r>
              <a:rPr lang="en-US" sz="700" b="1" dirty="0">
                <a:solidFill>
                  <a:srgbClr val="0D1B2A"/>
                </a:solidFill>
              </a:rPr>
              <a:t> Woodworks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Tier 1 — Aspirational Leaders (Direct Reference)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B4A6"/>
                </a:solidFill>
              </a:rPr>
              <a:t>Section 07 · Competitor Analysis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768096"/>
            <a:ext cx="2029968" cy="4041648"/>
          </a:xfrm>
          <a:prstGeom prst="roundRect">
            <a:avLst>
              <a:gd name="adj" fmla="val 3153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768096"/>
            <a:ext cx="2029968" cy="457200"/>
          </a:xfrm>
          <a:prstGeom prst="roundRect">
            <a:avLst>
              <a:gd name="adj" fmla="val 14000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950976"/>
            <a:ext cx="2029968" cy="27432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795528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Archmill House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005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</a:rPr>
              <a:t>archmillhouse.com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764792" y="804672"/>
            <a:ext cx="438912" cy="438912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64792" y="804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88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3167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B4A6"/>
                </a:solidFill>
              </a:rPr>
              <a:t>Strengths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1480" y="152704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740"/>
                </a:solidFill>
              </a:rPr>
              <a:t>▸ Full-screen hero + branded 'Rapid Reimage' service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11480" y="18745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740"/>
                </a:solidFill>
              </a:rPr>
              <a:t>▸ Portfolio by client brand: McDonald's, Starbucks, LCBO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11480" y="22219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740"/>
                </a:solidFill>
              </a:rPr>
              <a:t>▸ Quantified ROI on homepage (40%+ sales uplift)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11480" y="25694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740"/>
                </a:solidFill>
              </a:rPr>
              <a:t>▸ Turnkey story: design → fabrication → installation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11480" y="29169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740"/>
                </a:solidFill>
              </a:rPr>
              <a:t>▸ Client logo wall for instant social proof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760" y="3346704"/>
            <a:ext cx="1938528" cy="1316736"/>
          </a:xfrm>
          <a:prstGeom prst="roundRect">
            <a:avLst>
              <a:gd name="adj" fmla="val 3472"/>
            </a:avLst>
          </a:prstGeom>
          <a:solidFill>
            <a:srgbClr val="EB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33832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A74"/>
                </a:solidFill>
              </a:rPr>
              <a:t>Key Learning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38912" y="358444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Quantified ROI storytelling + branded service concept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514600" y="768096"/>
            <a:ext cx="2029968" cy="4041648"/>
          </a:xfrm>
          <a:prstGeom prst="roundRect">
            <a:avLst>
              <a:gd name="adj" fmla="val 3153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14600" y="768096"/>
            <a:ext cx="2029968" cy="457200"/>
          </a:xfrm>
          <a:prstGeom prst="roundRect">
            <a:avLst>
              <a:gd name="adj" fmla="val 14000"/>
            </a:avLst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14600" y="950976"/>
            <a:ext cx="2029968" cy="274320"/>
          </a:xfrm>
          <a:prstGeom prst="rect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06040" y="795528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Eventscape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06040" y="1005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</a:rPr>
              <a:t>eventscape.com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959352" y="804672"/>
            <a:ext cx="438912" cy="438912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959352" y="804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06040" y="13167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B4A6"/>
                </a:solidFill>
              </a:rPr>
              <a:t>Strengths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606040" y="152704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740"/>
                </a:solidFill>
              </a:rPr>
              <a:t>▸ Full-screen project photography as primary medium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606040" y="18745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740"/>
                </a:solidFill>
              </a:rPr>
              <a:t>▸ Dual portfolio filter: material AND sector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606040" y="22219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740"/>
                </a:solidFill>
              </a:rPr>
              <a:t>▸ Proprietary 'Arch. Toy Factory' as unique IP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06040" y="25694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740"/>
                </a:solidFill>
              </a:rPr>
              <a:t>▸ Case studies: challenge → solution → outcome + testimonials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606040" y="29169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740"/>
                </a:solidFill>
              </a:rPr>
              <a:t>▸ 'BuiltByEventscape' hashtag for social amplification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560320" y="3346704"/>
            <a:ext cx="1938528" cy="1316736"/>
          </a:xfrm>
          <a:prstGeom prst="roundRect">
            <a:avLst>
              <a:gd name="adj" fmla="val 3472"/>
            </a:avLst>
          </a:prstGeom>
          <a:solidFill>
            <a:srgbClr val="EB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633472" y="33832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A74"/>
                </a:solidFill>
              </a:rPr>
              <a:t>Key Learning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633472" y="358444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Case study format, materials-based portfolio, process branding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09160" y="768096"/>
            <a:ext cx="2029968" cy="4041648"/>
          </a:xfrm>
          <a:prstGeom prst="roundRect">
            <a:avLst>
              <a:gd name="adj" fmla="val 3153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09160" y="768096"/>
            <a:ext cx="2029968" cy="457200"/>
          </a:xfrm>
          <a:prstGeom prst="roundRect">
            <a:avLst>
              <a:gd name="adj" fmla="val 14000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09160" y="950976"/>
            <a:ext cx="2029968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00600" y="795528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Beaubois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00600" y="1005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</a:rPr>
              <a:t>beaubois.com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153912" y="804672"/>
            <a:ext cx="438912" cy="438912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153912" y="804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00600" y="13167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B4A6"/>
                </a:solidFill>
              </a:rPr>
              <a:t>Strengths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00600" y="152704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740"/>
                </a:solidFill>
              </a:rPr>
              <a:t>▸ Clear sector navigation: Institutional / Hotels / Healthcare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800600" y="18745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740"/>
                </a:solidFill>
              </a:rPr>
              <a:t>▸ BIM technology leadership as differentiator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800600" y="22219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740"/>
                </a:solidFill>
              </a:rPr>
              <a:t>▸ Bilingual EN/FR for Canadian market access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800600" y="25694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740"/>
                </a:solidFill>
              </a:rPr>
              <a:t>▸ Sustainability &amp; eco-materials messaging throughout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800600" y="29169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740"/>
                </a:solidFill>
              </a:rPr>
              <a:t>▸ 'Turnkey approach' value prop clear from homepage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754880" y="3346704"/>
            <a:ext cx="1938528" cy="1316736"/>
          </a:xfrm>
          <a:prstGeom prst="roundRect">
            <a:avLst>
              <a:gd name="adj" fmla="val 3472"/>
            </a:avLst>
          </a:prstGeom>
          <a:solidFill>
            <a:srgbClr val="EB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28032" y="33832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A74"/>
                </a:solidFill>
              </a:rPr>
              <a:t>Key Learning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828032" y="358444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Sector nav, BIM messaging, sustainability, bilingual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903720" y="768096"/>
            <a:ext cx="2029968" cy="4041648"/>
          </a:xfrm>
          <a:prstGeom prst="roundRect">
            <a:avLst>
              <a:gd name="adj" fmla="val 3153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903720" y="768096"/>
            <a:ext cx="2029968" cy="457200"/>
          </a:xfrm>
          <a:prstGeom prst="roundRect">
            <a:avLst>
              <a:gd name="adj" fmla="val 14000"/>
            </a:avLst>
          </a:prstGeom>
          <a:solidFill>
            <a:srgbClr val="4A6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903720" y="950976"/>
            <a:ext cx="2029968" cy="274320"/>
          </a:xfrm>
          <a:prstGeom prst="rect">
            <a:avLst/>
          </a:prstGeom>
          <a:solidFill>
            <a:srgbClr val="4A6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995160" y="795528"/>
            <a:ext cx="1554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Mirmil Products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995160" y="1005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</a:rPr>
              <a:t>mirmil.ca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8348472" y="804672"/>
            <a:ext cx="438912" cy="438912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348472" y="804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68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995160" y="13167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B4A6"/>
                </a:solidFill>
              </a:rPr>
              <a:t>Strengths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995160" y="152704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740"/>
                </a:solidFill>
              </a:rPr>
              <a:t>▸ Value-engineering positioning: design intent on budget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995160" y="18745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740"/>
                </a:solidFill>
              </a:rPr>
              <a:t>▸ Multi-material: wood, metals, glass, stone, solid surface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995160" y="22219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740"/>
                </a:solidFill>
              </a:rPr>
              <a:t>▸ Sector filtering: Entertainment / Institutional / Residential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995160" y="25694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740"/>
                </a:solidFill>
              </a:rPr>
              <a:t>▸ Strong LinkedIn integration with live project updates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949440" y="3346704"/>
            <a:ext cx="1938528" cy="1316736"/>
          </a:xfrm>
          <a:prstGeom prst="roundRect">
            <a:avLst>
              <a:gd name="adj" fmla="val 3472"/>
            </a:avLst>
          </a:prstGeom>
          <a:solidFill>
            <a:srgbClr val="EB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022592" y="338328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A74"/>
                </a:solidFill>
              </a:rPr>
              <a:t>Key Learning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7022592" y="358444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Value-engineering positioning, multi-material storytelling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0898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Feature Priority Matrix — All 29 Features Benchmarked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2089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B4A6"/>
                </a:solidFill>
              </a:rPr>
              <a:t>Section 07 · Gap Analysis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532957"/>
            <a:ext cx="2057400" cy="152828"/>
          </a:xfrm>
          <a:prstGeom prst="roundRect">
            <a:avLst>
              <a:gd name="adj" fmla="val 14815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 sz="700"/>
          </a:p>
        </p:txBody>
      </p:sp>
      <p:sp>
        <p:nvSpPr>
          <p:cNvPr id="8" name="Text 6"/>
          <p:cNvSpPr/>
          <p:nvPr/>
        </p:nvSpPr>
        <p:spPr>
          <a:xfrm>
            <a:off x="347472" y="48941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● MUST HAVE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14600" y="532957"/>
            <a:ext cx="2057400" cy="152828"/>
          </a:xfrm>
          <a:prstGeom prst="roundRect">
            <a:avLst>
              <a:gd name="adj" fmla="val 14815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 sz="700"/>
          </a:p>
        </p:txBody>
      </p:sp>
      <p:sp>
        <p:nvSpPr>
          <p:cNvPr id="10" name="Text 8"/>
          <p:cNvSpPr/>
          <p:nvPr/>
        </p:nvSpPr>
        <p:spPr>
          <a:xfrm>
            <a:off x="2542032" y="48941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◆ SHOULD HAVE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709160" y="532957"/>
            <a:ext cx="2057400" cy="152828"/>
          </a:xfrm>
          <a:prstGeom prst="roundRect">
            <a:avLst>
              <a:gd name="adj" fmla="val 14815"/>
            </a:avLst>
          </a:prstGeom>
          <a:solidFill>
            <a:srgbClr val="C8D8E8"/>
          </a:solidFill>
          <a:ln/>
        </p:spPr>
        <p:txBody>
          <a:bodyPr/>
          <a:lstStyle/>
          <a:p>
            <a:endParaRPr lang="en-US" sz="700"/>
          </a:p>
        </p:txBody>
      </p:sp>
      <p:sp>
        <p:nvSpPr>
          <p:cNvPr id="12" name="Text 10"/>
          <p:cNvSpPr/>
          <p:nvPr/>
        </p:nvSpPr>
        <p:spPr>
          <a:xfrm>
            <a:off x="4736592" y="480703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2740"/>
                </a:solidFill>
              </a:rPr>
              <a:t>◇ NICE TO HAVE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903720" y="532957"/>
            <a:ext cx="2057400" cy="152828"/>
          </a:xfrm>
          <a:prstGeom prst="roundRect">
            <a:avLst>
              <a:gd name="adj" fmla="val 14815"/>
            </a:avLst>
          </a:prstGeom>
          <a:solidFill>
            <a:srgbClr val="1E3248"/>
          </a:solidFill>
          <a:ln/>
        </p:spPr>
        <p:txBody>
          <a:bodyPr/>
          <a:lstStyle/>
          <a:p>
            <a:endParaRPr lang="en-US" sz="700"/>
          </a:p>
        </p:txBody>
      </p:sp>
      <p:sp>
        <p:nvSpPr>
          <p:cNvPr id="14" name="Text 12"/>
          <p:cNvSpPr/>
          <p:nvPr/>
        </p:nvSpPr>
        <p:spPr>
          <a:xfrm>
            <a:off x="6931152" y="48941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★ FUTURE</a:t>
            </a:r>
            <a:endParaRPr lang="en-US" sz="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90105"/>
              </p:ext>
            </p:extLst>
          </p:nvPr>
        </p:nvGraphicFramePr>
        <p:xfrm>
          <a:off x="320040" y="731505"/>
          <a:ext cx="8503920" cy="43891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Archmill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Eventscape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Beaubois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PCL/ED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Sandha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Full-screen hero video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● MUST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Project portfolio gallery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● MUST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Portfolio sector filter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● MUST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Project case study pages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● MUST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Capabilities / services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● MUST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Industries we serve pages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● MUST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RFQ / enquiry form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● MUST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Mobile-first responsive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● MUST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E-commerce / cart / checkout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● MUST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Payment gateway integration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● MUST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Team &amp; leadership page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● MUST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Certifications section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● MUST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Blog / insights section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◆ SHOULD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Client testimonials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◆ SHOULD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Downloadable spec sheets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◆ SHOULD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Live chat / WhatsApp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◆ SHOULD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GA4 + Google Tag Manager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8A9BB0"/>
                          </a:solidFill>
                        </a:rPr>
                        <a:t>?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◆ SHOULD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Inventory management (ERP)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★ FUTURE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CRM &amp; sales pipeline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★ FUTURE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Finance &amp; accounting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★ FUTURE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AI recommendations engine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★ FUTURE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Dynamic pricing AI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★ FUTURE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729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Demand forecasting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E74C3C"/>
                          </a:solidFill>
                        </a:rPr>
                        <a:t>✗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1A9E5E"/>
                          </a:solidFill>
                        </a:rPr>
                        <a:t>✓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★ FUTURE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5C077-80A3-301C-352B-0EA6145AD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6F2EA7-D17D-C4FD-5962-5A99DCE5DEAD}"/>
              </a:ext>
            </a:extLst>
          </p:cNvPr>
          <p:cNvSpPr/>
          <p:nvPr/>
        </p:nvSpPr>
        <p:spPr>
          <a:xfrm>
            <a:off x="6675120" y="182880"/>
            <a:ext cx="2286000" cy="4389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1E3248">
                    <a:alpha val="38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08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9466AB-4336-24A3-6C57-C5FDF6CC2324}"/>
              </a:ext>
            </a:extLst>
          </p:cNvPr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300" normalizeH="0" baseline="0" noProof="0" dirty="0">
                <a:ln>
                  <a:noFill/>
                </a:ln>
                <a:solidFill>
                  <a:srgbClr val="8A9BB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NEXGEN  ·  SANDHA WOODWORKS  ·  DIGITAL TRANSFORMATION STRATEGY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769CA0-6263-2694-D474-24059D0B0181}"/>
              </a:ext>
            </a:extLst>
          </p:cNvPr>
          <p:cNvSpPr/>
          <p:nvPr/>
        </p:nvSpPr>
        <p:spPr>
          <a:xfrm>
            <a:off x="365760" y="14173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4000" b="1" dirty="0">
                <a:solidFill>
                  <a:srgbClr val="FFFFFF"/>
                </a:solidFill>
              </a:rPr>
              <a:t>Platform Stack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44775DF-7602-3C28-0AA6-76254AB6005E}"/>
              </a:ext>
            </a:extLst>
          </p:cNvPr>
          <p:cNvSpPr/>
          <p:nvPr/>
        </p:nvSpPr>
        <p:spPr>
          <a:xfrm>
            <a:off x="365760" y="2971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4A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Website · Best tech stack · </a:t>
            </a:r>
            <a:r>
              <a:rPr lang="en-US" sz="1400" dirty="0">
                <a:solidFill>
                  <a:srgbClr val="00B4A6"/>
                </a:solidFill>
                <a:latin typeface="Calibri" panose="020F0502020204030204"/>
              </a:rPr>
              <a:t>Scale Across All Phases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5EBE49D-23D1-9BEB-BF1B-F4FD8DE651DB}"/>
              </a:ext>
            </a:extLst>
          </p:cNvPr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EB56650-D3DB-0050-0547-5090ACDDF7DC}"/>
              </a:ext>
            </a:extLst>
          </p:cNvPr>
          <p:cNvSpPr/>
          <p:nvPr/>
        </p:nvSpPr>
        <p:spPr>
          <a:xfrm>
            <a:off x="365760" y="489117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 2026 NexGen Tech Solutions  ·  Confidential  ·  Prepared for </a:t>
            </a:r>
            <a:r>
              <a:rPr kumimoji="0" lang="en-US" sz="700" b="1" i="0" u="none" strike="noStrike" kern="1200" cap="none" spc="0" normalizeH="0" baseline="0" noProof="0" dirty="0" err="1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Sandha</a:t>
            </a: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D1B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Woodworks</a:t>
            </a:r>
          </a:p>
        </p:txBody>
      </p:sp>
    </p:spTree>
    <p:extLst>
      <p:ext uri="{BB962C8B-B14F-4D97-AF65-F5344CB8AC3E}">
        <p14:creationId xmlns:p14="http://schemas.microsoft.com/office/powerpoint/2010/main" val="488043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Recommended Platform Stack — Built to Scale Across All Phases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B4A6"/>
                </a:solidFill>
              </a:rPr>
              <a:t>Section 08 · Architecture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874187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00749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246843"/>
              </p:ext>
            </p:extLst>
          </p:nvPr>
        </p:nvGraphicFramePr>
        <p:xfrm>
          <a:off x="320040" y="689715"/>
          <a:ext cx="8503920" cy="403251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07A74"/>
                          </a:solidFill>
                        </a:rPr>
                        <a:t>CMS / Content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D1B2A"/>
                          </a:solidFill>
                        </a:rPr>
                        <a:t>Sanity.io or WordPress (Headless)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Real-time preview, structured model, image CDN, non-technical editor UI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07A74"/>
                          </a:solidFill>
                        </a:rPr>
                        <a:t>Frontend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D1B2A"/>
                          </a:solidFill>
                        </a:rPr>
                        <a:t>Next.js (React) on Vercel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Static gen, ISR, edge rendering, best-in-class Core Web Vitals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07A74"/>
                          </a:solidFill>
                        </a:rPr>
                        <a:t>Mobile App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D1B2A"/>
                          </a:solidFill>
                        </a:rPr>
                        <a:t>React Native (Expo)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iOS + Android from single codebase; OTA updates; push notifications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07A74"/>
                          </a:solidFill>
                        </a:rPr>
                        <a:t>E-Commerce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D1B2A"/>
                          </a:solidFill>
                        </a:rPr>
                        <a:t>Custom Next.js + Stripe / Razorpay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Catalogue, cart, checkout, payments, tax, shipping, order management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07A74"/>
                          </a:solidFill>
                        </a:rPr>
                        <a:t>Media / Portfolio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D1B2A"/>
                          </a:solidFill>
                        </a:rPr>
                        <a:t>Cloudinary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Auto WebP, responsive srcsets, lazy loading — critical for project photography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07A74"/>
                          </a:solidFill>
                        </a:rPr>
                        <a:t>CRM / Forms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D1B2A"/>
                          </a:solidFill>
                        </a:rPr>
                        <a:t>HubSpot CRM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RFQ → deal pipeline, email nurture, contact database, sequences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07A74"/>
                          </a:solidFill>
                        </a:rPr>
                        <a:t>Analytics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D1B2A"/>
                          </a:solidFill>
                        </a:rPr>
                        <a:t>GA4 + Google Tag Manager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Conversion tracking, scroll depth, RFQ submissions, portfolio engagement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07A74"/>
                          </a:solidFill>
                        </a:rPr>
                        <a:t>Security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D1B2A"/>
                          </a:solidFill>
                        </a:rPr>
                        <a:t>Cloudflare WAF + SSL + HSTS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DDoS protection, bot filtering, force HTTPS, security headers from day one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07A74"/>
                          </a:solidFill>
                        </a:rPr>
                        <a:t>Hosting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D1B2A"/>
                          </a:solidFill>
                        </a:rPr>
                        <a:t>Vercel + AWS S3 Canada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1A2740"/>
                          </a:solidFill>
                        </a:rPr>
                        <a:t>Canadian data residency, global CDN, 99.99% uptime SLA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0B4A6"/>
                          </a:solidFill>
                        </a:rPr>
                        <a:t>Phase 2 — ERP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Emmato.com (NexGen Proprietary)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8A9BB0"/>
                          </a:solidFill>
                        </a:rPr>
                        <a:t>HR, payroll, vendor management, payment cycles — already built by NexGen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0B4A6"/>
                          </a:solidFill>
                        </a:rPr>
                        <a:t>Phase 2 — MDM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Demmato.com (NexGen Proprietary)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8A9BB0"/>
                          </a:solidFill>
                        </a:rPr>
                        <a:t>Device &amp; IT asset management — already deployed at Sandha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0B4A6"/>
                          </a:solidFill>
                        </a:rPr>
                        <a:t>Phase 3 — AI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OpenAI API + Custom ML Models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8A9BB0"/>
                          </a:solidFill>
                        </a:rPr>
                        <a:t>Recommendations, dynamic pricing, forecasting, chatbot, analytics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0B4A6"/>
                          </a:solidFill>
                        </a:rPr>
                        <a:t>Phase 3 — Portal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Next.js + Supabase (PostgreSQL)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8A9BB0"/>
                          </a:solidFill>
                        </a:rPr>
                        <a:t>Row-level security, real-time, Auth with SSO — client &amp; partner portals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8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00B4A6"/>
                          </a:solidFill>
                        </a:rPr>
                        <a:t>Phase 4 — Mobile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React Native (Expo) — Full App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600" dirty="0">
                          <a:solidFill>
                            <a:srgbClr val="8A9BB0"/>
                          </a:solidFill>
                        </a:rPr>
                        <a:t>Single codebase, push, camera, biometric auth, offline capability</a:t>
                      </a:r>
                      <a:endParaRPr lang="en-US" sz="6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Site Navigation Architecture — Designed for Buyers, Architects &amp; Search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B4A6"/>
                </a:solidFill>
              </a:rPr>
              <a:t>Section 08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786384"/>
            <a:ext cx="4206240" cy="896112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786384"/>
            <a:ext cx="1353312" cy="896112"/>
          </a:xfrm>
          <a:prstGeom prst="roundRect">
            <a:avLst>
              <a:gd name="adj" fmla="val 7143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44168" y="786384"/>
            <a:ext cx="347472" cy="896112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877824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35331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FFFFFF"/>
                </a:solidFill>
              </a:rPr>
              <a:t>Brand impact + conversion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801368" y="877824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Hero video · Stats · Sector intro · Portfolio CTA · RFQ CTA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754880" y="786384"/>
            <a:ext cx="4206240" cy="896112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786384"/>
            <a:ext cx="1353312" cy="896112"/>
          </a:xfrm>
          <a:prstGeom prst="roundRect">
            <a:avLst>
              <a:gd name="adj" fmla="val 7143"/>
            </a:avLst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79008" y="786384"/>
            <a:ext cx="347472" cy="896112"/>
          </a:xfrm>
          <a:prstGeom prst="rect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877824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35331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FFFFFF"/>
                </a:solidFill>
              </a:rPr>
              <a:t>Credibility + SEO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6236208" y="877824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Filter: Sector / Material / Scale · Case study pages: photos, scope, outcome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" y="1792224"/>
            <a:ext cx="4206240" cy="896112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1792224"/>
            <a:ext cx="1353312" cy="896112"/>
          </a:xfrm>
          <a:prstGeom prst="roundRect">
            <a:avLst>
              <a:gd name="adj" fmla="val 714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344168" y="1792224"/>
            <a:ext cx="347472" cy="89611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1883664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Capabilities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235915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FFFFFF"/>
                </a:solidFill>
              </a:rPr>
              <a:t>Specification audience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801368" y="1883664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CNC Manufacturing · Finishing &amp; Paint · Engineering · PM · Installation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54880" y="1792224"/>
            <a:ext cx="4206240" cy="896112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1792224"/>
            <a:ext cx="1353312" cy="896112"/>
          </a:xfrm>
          <a:prstGeom prst="roundRect">
            <a:avLst>
              <a:gd name="adj" fmla="val 7143"/>
            </a:avLst>
          </a:prstGeom>
          <a:solidFill>
            <a:srgbClr val="007A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779008" y="1792224"/>
            <a:ext cx="347472" cy="896112"/>
          </a:xfrm>
          <a:prstGeom prst="rect">
            <a:avLst/>
          </a:prstGeom>
          <a:solidFill>
            <a:srgbClr val="007A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1883664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Industries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235915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FFFFFF"/>
                </a:solidFill>
              </a:rPr>
              <a:t>Sector SEO landing pages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236208" y="1883664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Healthcare · Hospitality · Corporate · Retail · Institutional · Educational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0040" y="2798064"/>
            <a:ext cx="4206240" cy="896112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" y="2798064"/>
            <a:ext cx="1353312" cy="896112"/>
          </a:xfrm>
          <a:prstGeom prst="roundRect">
            <a:avLst>
              <a:gd name="adj" fmla="val 7143"/>
            </a:avLst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344168" y="2798064"/>
            <a:ext cx="347472" cy="896112"/>
          </a:xfrm>
          <a:prstGeom prst="rect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2889504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Our Facility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1480" y="336499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FFFFFF"/>
                </a:solidFill>
              </a:rPr>
              <a:t>Trust &amp; scale proof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801368" y="2889504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Factory tour · Equipment · Capacity stats · Quality process · Certifications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54880" y="2798064"/>
            <a:ext cx="4206240" cy="896112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54880" y="2798064"/>
            <a:ext cx="1353312" cy="896112"/>
          </a:xfrm>
          <a:prstGeom prst="roundRect">
            <a:avLst>
              <a:gd name="adj" fmla="val 7143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779008" y="2798064"/>
            <a:ext cx="347472" cy="896112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46320" y="2889504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Shop / Catalogue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336499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FFFFFF"/>
                </a:solidFill>
              </a:rPr>
              <a:t>E-commerce conversion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6236208" y="2889504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Product categories · Search &amp; filter · Product pages · Cart · Checkout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0040" y="3803904"/>
            <a:ext cx="4206240" cy="896112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20040" y="3803904"/>
            <a:ext cx="1353312" cy="896112"/>
          </a:xfrm>
          <a:prstGeom prst="roundRect">
            <a:avLst>
              <a:gd name="adj" fmla="val 714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344168" y="3803904"/>
            <a:ext cx="347472" cy="89611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11480" y="3895344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About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11480" y="437083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FFFFFF"/>
                </a:solidFill>
              </a:rPr>
              <a:t>Culture &amp; relationships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1801368" y="3895344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Our Story · Leadership · Values · Careers · Sustainability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54880" y="3803904"/>
            <a:ext cx="4206240" cy="896112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754880" y="3803904"/>
            <a:ext cx="1353312" cy="896112"/>
          </a:xfrm>
          <a:prstGeom prst="roundRect">
            <a:avLst>
              <a:gd name="adj" fmla="val 7143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779008" y="3803904"/>
            <a:ext cx="347472" cy="896112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846320" y="3895344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Contact / RFQ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46320" y="437083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FFFFFF"/>
                </a:solidFill>
              </a:rPr>
              <a:t>Lead generation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6236208" y="3895344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Multi-step RFQ · Call booking · WhatsApp · Address · Project map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2B594-84DC-3ABF-7F58-B254303B5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F6B02CE-E95B-447C-48E3-CFE4406EDC17}"/>
              </a:ext>
            </a:extLst>
          </p:cNvPr>
          <p:cNvSpPr/>
          <p:nvPr/>
        </p:nvSpPr>
        <p:spPr>
          <a:xfrm>
            <a:off x="6675120" y="182880"/>
            <a:ext cx="2286000" cy="4389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1E3248">
                    <a:alpha val="38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09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3959C1-EE2E-B92C-D024-608C8DB5B481}"/>
              </a:ext>
            </a:extLst>
          </p:cNvPr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300" normalizeH="0" baseline="0" noProof="0" dirty="0">
                <a:ln>
                  <a:noFill/>
                </a:ln>
                <a:solidFill>
                  <a:srgbClr val="8A9BB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NEXGEN  ·  SANDHA WOODWORKS  ·  DIGITAL TRANSFORMATION STRATEGY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554C9F-D1D0-6FA2-AF2D-B25753CEC931}"/>
              </a:ext>
            </a:extLst>
          </p:cNvPr>
          <p:cNvSpPr/>
          <p:nvPr/>
        </p:nvSpPr>
        <p:spPr>
          <a:xfrm>
            <a:off x="365760" y="14173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Roadmap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850C1D7-0EC3-4F0E-7649-ED97C12F9168}"/>
              </a:ext>
            </a:extLst>
          </p:cNvPr>
          <p:cNvSpPr/>
          <p:nvPr/>
        </p:nvSpPr>
        <p:spPr>
          <a:xfrm>
            <a:off x="365760" y="2971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B4A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Implementation Timeline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CFF98EF-E4C7-F23E-6D65-D8D6BFF887EA}"/>
              </a:ext>
            </a:extLst>
          </p:cNvPr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A5D1611-10B9-FFB8-8954-4E649C97EB7F}"/>
              </a:ext>
            </a:extLst>
          </p:cNvPr>
          <p:cNvSpPr/>
          <p:nvPr/>
        </p:nvSpPr>
        <p:spPr>
          <a:xfrm>
            <a:off x="365760" y="489117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00" b="1" dirty="0">
                <a:solidFill>
                  <a:srgbClr val="0D1B2A"/>
                </a:solidFill>
              </a:rPr>
              <a:t>© 2026 NexGen Tech Solutions  ·  Confidential  ·  Prepared for </a:t>
            </a:r>
            <a:r>
              <a:rPr lang="en-US" sz="700" b="1" dirty="0" err="1">
                <a:solidFill>
                  <a:srgbClr val="0D1B2A"/>
                </a:solidFill>
              </a:rPr>
              <a:t>Sandha</a:t>
            </a:r>
            <a:r>
              <a:rPr lang="en-US" sz="700" b="1" dirty="0">
                <a:solidFill>
                  <a:srgbClr val="0D1B2A"/>
                </a:solidFill>
              </a:rPr>
              <a:t> Woodworks</a:t>
            </a:r>
          </a:p>
        </p:txBody>
      </p:sp>
    </p:spTree>
    <p:extLst>
      <p:ext uri="{BB962C8B-B14F-4D97-AF65-F5344CB8AC3E}">
        <p14:creationId xmlns:p14="http://schemas.microsoft.com/office/powerpoint/2010/main" val="3371399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Implementation Timeline — Phased Delivery Over 36 Months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B4A6"/>
                </a:solidFill>
              </a:rPr>
              <a:t>Section 09 · Roadmap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768096"/>
            <a:ext cx="2029968" cy="4041648"/>
          </a:xfrm>
          <a:prstGeom prst="roundRect">
            <a:avLst>
              <a:gd name="adj" fmla="val 3604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768096"/>
            <a:ext cx="2029968" cy="896112"/>
          </a:xfrm>
          <a:prstGeom prst="roundRect">
            <a:avLst>
              <a:gd name="adj" fmla="val 8163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2029968" cy="429768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9768" y="822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10332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Commerce Foundation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13716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Months 1–4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56022" y="2365859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Brand identity integration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29768" y="1975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Full-screen hero video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29768" y="22311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Product catalogue + e-commerce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9768" y="24871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Payment gateway (Stripe/Razorpay)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29768" y="27432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Mobile app (React Native)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29768" y="29992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RFQ + HubSpot CRM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29768" y="32552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7 industry sector pages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29768" y="35112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CMS training for internal team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93192" y="4279392"/>
            <a:ext cx="1883664" cy="438912"/>
          </a:xfrm>
          <a:prstGeom prst="roundRect">
            <a:avLst>
              <a:gd name="adj" fmla="val 10417"/>
            </a:avLst>
          </a:prstGeom>
          <a:solidFill>
            <a:srgbClr val="EBF9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9768" y="42976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B4A6"/>
                </a:solidFill>
              </a:rPr>
              <a:t>Live commerce platform. Online lead gen. Full mobile buying experience.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496312" y="768096"/>
            <a:ext cx="2029968" cy="4041648"/>
          </a:xfrm>
          <a:prstGeom prst="roundRect">
            <a:avLst>
              <a:gd name="adj" fmla="val 3604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496312" y="768096"/>
            <a:ext cx="2029968" cy="896112"/>
          </a:xfrm>
          <a:prstGeom prst="roundRect">
            <a:avLst>
              <a:gd name="adj" fmla="val 8163"/>
            </a:avLst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496312" y="1234440"/>
            <a:ext cx="2029968" cy="429768"/>
          </a:xfrm>
          <a:prstGeom prst="rect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06040" y="822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02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06040" y="10332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ERP Enablement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06040" y="13716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Months 5–12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606040" y="17190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Emmato.com ERP integration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606040" y="1975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Inventory &amp; warehouse management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606040" y="22311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Finance &amp; invoicing module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606040" y="24871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CRM: online + offline buyer unification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606040" y="27432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HR &amp; attendance management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606040" y="29992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Vendor &amp; procurement management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606040" y="32552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Sales pipeline management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606040" y="35112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Reporting dashboards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569464" y="4279392"/>
            <a:ext cx="1883664" cy="438912"/>
          </a:xfrm>
          <a:prstGeom prst="roundRect">
            <a:avLst>
              <a:gd name="adj" fmla="val 10417"/>
            </a:avLst>
          </a:prstGeom>
          <a:solidFill>
            <a:srgbClr val="EDF3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606040" y="42976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3248"/>
                </a:solidFill>
              </a:rPr>
              <a:t>All buyers in one system. Operations digitised. Single source of truth.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672584" y="768096"/>
            <a:ext cx="2029968" cy="4041648"/>
          </a:xfrm>
          <a:prstGeom prst="roundRect">
            <a:avLst>
              <a:gd name="adj" fmla="val 3604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672584" y="768096"/>
            <a:ext cx="2029968" cy="896112"/>
          </a:xfrm>
          <a:prstGeom prst="roundRect">
            <a:avLst>
              <a:gd name="adj" fmla="val 816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72584" y="1234440"/>
            <a:ext cx="2029968" cy="4297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82312" y="822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03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82312" y="10332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Transformation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782312" y="13716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Months 13–24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82312" y="17190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AI recommendation engine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82312" y="1975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Dynamic pricing &amp; promotions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782312" y="22311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Cart abandonment recovery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782312" y="24871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Demand forecasting model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782312" y="27432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Returning user identification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782312" y="29992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Push notification AI pacing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782312" y="32552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Financial forecasting AI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782312" y="35112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Executive AI dashboard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745736" y="4279392"/>
            <a:ext cx="1883664" cy="438912"/>
          </a:xfrm>
          <a:prstGeom prst="roundRect">
            <a:avLst>
              <a:gd name="adj" fmla="val 10417"/>
            </a:avLst>
          </a:prstGeom>
          <a:solidFill>
            <a:srgbClr val="F0EA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782312" y="42976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1B2A"/>
                </a:solidFill>
              </a:rPr>
              <a:t>Platform self-optimises. Revenue grows without proportional cost increase.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848856" y="768096"/>
            <a:ext cx="2029968" cy="4041648"/>
          </a:xfrm>
          <a:prstGeom prst="roundRect">
            <a:avLst>
              <a:gd name="adj" fmla="val 3604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848856" y="768096"/>
            <a:ext cx="2029968" cy="896112"/>
          </a:xfrm>
          <a:prstGeom prst="roundRect">
            <a:avLst>
              <a:gd name="adj" fmla="val 8163"/>
            </a:avLst>
          </a:prstGeom>
          <a:solidFill>
            <a:srgbClr val="007A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848856" y="1234440"/>
            <a:ext cx="2029968" cy="429768"/>
          </a:xfrm>
          <a:prstGeom prst="rect">
            <a:avLst/>
          </a:prstGeom>
          <a:solidFill>
            <a:srgbClr val="007A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958584" y="822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04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958584" y="10332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Unified Ecosystem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958584" y="13716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Months 25–36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958584" y="17190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Full AI operating across commerce + ERP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958584" y="197510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Self-managing supply chain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958584" y="22311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Autonomous promotional engine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958584" y="24871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AI CFO dashboard + board reports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958584" y="27432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Predictive customer retention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958584" y="29992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Innovation velocity platform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958584" y="32552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Continuous A/B optimisation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6958584" y="35112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740"/>
                </a:solidFill>
              </a:rPr>
              <a:t>▸ Market intelligence layer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922008" y="4279392"/>
            <a:ext cx="1883664" cy="438912"/>
          </a:xfrm>
          <a:prstGeom prst="roundRect">
            <a:avLst>
              <a:gd name="adj" fmla="val 10417"/>
            </a:avLst>
          </a:prstGeom>
          <a:solidFill>
            <a:srgbClr val="FEF9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958584" y="429768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A74"/>
                </a:solidFill>
              </a:rPr>
              <a:t>Competitive moat. First-mover AI advantage in the millwork sector.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Risk Register &amp; Mitigations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B4A6"/>
                </a:solidFill>
              </a:rPr>
              <a:t>Section 09 · Risks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68096"/>
          <a:ext cx="8503920" cy="395020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Sev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9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2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LOW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</a:rPr>
                        <a:t>Photography &amp; Video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A2740"/>
                          </a:solidFill>
                        </a:rPr>
                        <a:t>Single biggest quality factor — not the code.</a:t>
                      </a:r>
                      <a:endParaRPr lang="en-US" sz="78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i="1" dirty="0">
                          <a:solidFill>
                            <a:srgbClr val="1A2740"/>
                          </a:solidFill>
                        </a:rPr>
                        <a:t>Schedule professional shoot in parallel with development.</a:t>
                      </a:r>
                      <a:endParaRPr lang="en-US" sz="78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LOW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</a:rPr>
                        <a:t>Brand Identity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A2740"/>
                          </a:solidFill>
                        </a:rPr>
                        <a:t>Style guide required before dev begins.</a:t>
                      </a:r>
                      <a:endParaRPr lang="en-US" sz="78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i="1" dirty="0">
                          <a:solidFill>
                            <a:srgbClr val="1A2740"/>
                          </a:solidFill>
                        </a:rPr>
                        <a:t>NexGen can deliver a brand identity sprint as a precursor.</a:t>
                      </a:r>
                      <a:endParaRPr lang="en-US" sz="78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MED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</a:rPr>
                        <a:t>Content Creation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A2740"/>
                          </a:solidFill>
                        </a:rPr>
                        <a:t>Project copy &amp; team bios require client input.</a:t>
                      </a:r>
                      <a:endParaRPr lang="en-US" sz="78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i="1" dirty="0">
                          <a:solidFill>
                            <a:srgbClr val="1A2740"/>
                          </a:solidFill>
                        </a:rPr>
                        <a:t>NexGen provides brief templates; copywriter available.</a:t>
                      </a:r>
                      <a:endParaRPr lang="en-US" sz="78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MED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</a:rPr>
                        <a:t>CMS Adoption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A2740"/>
                          </a:solidFill>
                        </a:rPr>
                        <a:t>Unused CMS undermines the investment.</a:t>
                      </a:r>
                      <a:endParaRPr lang="en-US" sz="78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i="1" dirty="0">
                          <a:solidFill>
                            <a:srgbClr val="1A2740"/>
                          </a:solidFill>
                        </a:rPr>
                        <a:t>3 training sessions + video library + 3-month office hours.</a:t>
                      </a:r>
                      <a:endParaRPr lang="en-US" sz="78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MED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</a:rPr>
                        <a:t>ERP Integration (P2)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A2740"/>
                          </a:solidFill>
                        </a:rPr>
                        <a:t>Emmato integration requires data modelling.</a:t>
                      </a:r>
                      <a:endParaRPr lang="en-US" sz="78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i="1" dirty="0">
                          <a:solidFill>
                            <a:srgbClr val="1A2740"/>
                          </a:solidFill>
                        </a:rPr>
                        <a:t>Scope Phase 2 separately post-launch; IT + Web teams co-design.</a:t>
                      </a:r>
                      <a:endParaRPr lang="en-US" sz="78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LOW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</a:rPr>
                        <a:t>Data Residency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A2740"/>
                          </a:solidFill>
                        </a:rPr>
                        <a:t>Personal data must remain in Canada (PIPEDA).</a:t>
                      </a:r>
                      <a:endParaRPr lang="en-US" sz="78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i="1" dirty="0">
                          <a:solidFill>
                            <a:srgbClr val="1A2740"/>
                          </a:solidFill>
                        </a:rPr>
                        <a:t>AWS S3 Canada (ca-central-1) for all uploaded client files.</a:t>
                      </a:r>
                      <a:endParaRPr lang="en-US" sz="78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LOW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</a:rPr>
                        <a:t>Scope Creep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A2740"/>
                          </a:solidFill>
                        </a:rPr>
                        <a:t>Web projects frequently expand mid-build.</a:t>
                      </a:r>
                      <a:endParaRPr lang="en-US" sz="78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i="1" dirty="0">
                          <a:solidFill>
                            <a:srgbClr val="1A2740"/>
                          </a:solidFill>
                        </a:rPr>
                        <a:t>Formal change control; all additions quoted before work begins.</a:t>
                      </a:r>
                      <a:endParaRPr lang="en-US" sz="78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HIGH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</a:rPr>
                        <a:t>AI Data Quality (P3)</a:t>
                      </a:r>
                      <a:endParaRPr lang="en-US" sz="80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dirty="0">
                          <a:solidFill>
                            <a:srgbClr val="1A2740"/>
                          </a:solidFill>
                        </a:rPr>
                        <a:t>AI models require clean, consistent historical data.</a:t>
                      </a:r>
                      <a:endParaRPr lang="en-US" sz="78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80" i="1" dirty="0">
                          <a:solidFill>
                            <a:srgbClr val="1A2740"/>
                          </a:solidFill>
                        </a:rPr>
                        <a:t>Begin data hygiene in Phase 1 CMS; enforce data standards from day one.</a:t>
                      </a:r>
                      <a:endParaRPr lang="en-US" sz="780" dirty="0"/>
                    </a:p>
                  </a:txBody>
                  <a:tcPr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75120" y="182880"/>
            <a:ext cx="2286000" cy="4389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8000" b="1" dirty="0">
                <a:solidFill>
                  <a:srgbClr val="1E3248">
                    <a:alpha val="38000"/>
                  </a:srgbClr>
                </a:solidFill>
              </a:rPr>
              <a:t>10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300" dirty="0">
                <a:solidFill>
                  <a:srgbClr val="8A9BB0"/>
                </a:solidFill>
              </a:rPr>
              <a:t>NEXGEN  ·  SANDHA WOODWORKS  ·  DIGITAL TRANSFORMATION STRATEGY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Why NexGen for This Project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971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A6"/>
                </a:solidFill>
              </a:rPr>
              <a:t>Already inside the business — IT, ERP, MDM, and now Digital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489117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D1B2A"/>
                </a:solidFill>
              </a:rPr>
              <a:t>© 2026 NexGen Tech Solutions  ·  Confidential  ·  Prepared for </a:t>
            </a:r>
            <a:r>
              <a:rPr lang="en-US" sz="750" b="1" dirty="0" err="1">
                <a:solidFill>
                  <a:srgbClr val="0D1B2A"/>
                </a:solidFill>
              </a:rPr>
              <a:t>Sandha</a:t>
            </a:r>
            <a:r>
              <a:rPr lang="en-US" sz="750" b="1" dirty="0">
                <a:solidFill>
                  <a:srgbClr val="0D1B2A"/>
                </a:solidFill>
              </a:rPr>
              <a:t> Woodworks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Your Strategic Technology Partner — Across Every Phase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B4A6"/>
                </a:solidFill>
              </a:rPr>
              <a:t>Section 10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786384"/>
            <a:ext cx="2743200" cy="1792224"/>
          </a:xfrm>
          <a:prstGeom prst="roundRect">
            <a:avLst>
              <a:gd name="adj" fmla="val 4082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786384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969264"/>
            <a:ext cx="2743200" cy="164592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9768" y="859536"/>
            <a:ext cx="25237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Single Vendor, Zero Friction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1225296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A2740"/>
                </a:solidFill>
              </a:rPr>
              <a:t>NexGen already manages Sandha's AD, M365, Emmato, and Demmato. Web and ERP platform integrates without a new vendor relationship, security review, or onboarding cost.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246120" y="786384"/>
            <a:ext cx="2743200" cy="1792224"/>
          </a:xfrm>
          <a:prstGeom prst="roundRect">
            <a:avLst>
              <a:gd name="adj" fmla="val 4082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46120" y="786384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46120" y="969264"/>
            <a:ext cx="2743200" cy="164592"/>
          </a:xfrm>
          <a:prstGeom prst="rect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55848" y="859536"/>
            <a:ext cx="25237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 ERP Already Built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55848" y="1225296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A2740"/>
                </a:solidFill>
              </a:rPr>
              <a:t>Emmato.com and Demmato.com are NexGen proprietary platforms — already deployed at Sandha. Phase 2 ERP enablement is an expansion, not a new build.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172200" y="786384"/>
            <a:ext cx="2743200" cy="1792224"/>
          </a:xfrm>
          <a:prstGeom prst="roundRect">
            <a:avLst>
              <a:gd name="adj" fmla="val 4082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72200" y="786384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72200" y="969264"/>
            <a:ext cx="2743200" cy="16459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81928" y="859536"/>
            <a:ext cx="25237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Infrastructure-to-Platform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81928" y="1225296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A2740"/>
                </a:solidFill>
              </a:rPr>
              <a:t>Phase 3 portal and AI integrations require deep access to Sandha's SQL Server and Microvellum. NexGen is the only vendor with this context already.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320040" y="2724912"/>
            <a:ext cx="2743200" cy="1792224"/>
          </a:xfrm>
          <a:prstGeom prst="roundRect">
            <a:avLst>
              <a:gd name="adj" fmla="val 4082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724912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007A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2907792"/>
            <a:ext cx="2743200" cy="164592"/>
          </a:xfrm>
          <a:prstGeom prst="rect">
            <a:avLst/>
          </a:prstGeom>
          <a:solidFill>
            <a:srgbClr val="007A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9768" y="2798064"/>
            <a:ext cx="25237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Manufacturing &amp; Technical Literacy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9768" y="3163824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A2740"/>
                </a:solidFill>
              </a:rPr>
              <a:t>We understand Microvellum, CNC workflows, and engineering-led production. Capability pages and ERP integrations are built by people who know the business.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246120" y="2724912"/>
            <a:ext cx="2743200" cy="1792224"/>
          </a:xfrm>
          <a:prstGeom prst="roundRect">
            <a:avLst>
              <a:gd name="adj" fmla="val 4082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46120" y="2724912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4A6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46120" y="2907792"/>
            <a:ext cx="2743200" cy="164592"/>
          </a:xfrm>
          <a:prstGeom prst="rect">
            <a:avLst/>
          </a:prstGeom>
          <a:solidFill>
            <a:srgbClr val="4A6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55848" y="2798064"/>
            <a:ext cx="25237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SME-Calibrated Delivery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55848" y="3163824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A2740"/>
                </a:solidFill>
              </a:rPr>
              <a:t>Lean senior team. Practical outcomes. No bloated agency overhead. We measure success by your uptime, lead quality, and operational efficiency — not billable hours.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172200" y="2724912"/>
            <a:ext cx="2743200" cy="1792224"/>
          </a:xfrm>
          <a:prstGeom prst="roundRect">
            <a:avLst>
              <a:gd name="adj" fmla="val 4082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72200" y="2724912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1543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72200" y="2907792"/>
            <a:ext cx="2743200" cy="164592"/>
          </a:xfrm>
          <a:prstGeom prst="rect">
            <a:avLst/>
          </a:prstGeom>
          <a:solidFill>
            <a:srgbClr val="1543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81928" y="2798064"/>
            <a:ext cx="252374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Long-Term Technology Partnership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81928" y="3163824"/>
            <a:ext cx="25237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A2740"/>
                </a:solidFill>
              </a:rPr>
              <a:t>We stay post go-live. Quarterly business reviews, managed support, and a technology roadmap that grows with Sandha across all four platform phases.</a:t>
            </a:r>
            <a:endParaRPr lang="en-US" sz="8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Commercial Framework — Transparent Pricing Structure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B4A6"/>
                </a:solidFill>
              </a:rPr>
              <a:t>Section 10 · Commercial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20040" y="768096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740"/>
                </a:solidFill>
              </a:rPr>
              <a:t>NexGen operates a fixed-price delivery model for each phase, giving Sandha full budgetary certainty at every stage. No surprises, no scope creep without approval.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2029968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2029968" cy="594360"/>
          </a:xfrm>
          <a:prstGeom prst="roundRect">
            <a:avLst>
              <a:gd name="adj" fmla="val 12308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2029968" cy="27432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13441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1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Commerce Platform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1993392"/>
            <a:ext cx="1572768" cy="274320"/>
          </a:xfrm>
          <a:prstGeom prst="roundRect">
            <a:avLst>
              <a:gd name="adj" fmla="val 20000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99339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Fixed Price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29768" y="2359152"/>
            <a:ext cx="18288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2740"/>
                </a:solidFill>
              </a:rPr>
              <a:t>One-time implementation fee. Scope defined in SOW. Change control on all additions.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96312" y="1298448"/>
            <a:ext cx="2029968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96312" y="1298448"/>
            <a:ext cx="2029968" cy="594360"/>
          </a:xfrm>
          <a:prstGeom prst="roundRect">
            <a:avLst>
              <a:gd name="adj" fmla="val 12308"/>
            </a:avLst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96312" y="1618488"/>
            <a:ext cx="2029968" cy="274320"/>
          </a:xfrm>
          <a:prstGeom prst="rect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06040" y="13441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ERP Enablement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24912" y="1993392"/>
            <a:ext cx="1572768" cy="274320"/>
          </a:xfrm>
          <a:prstGeom prst="roundRect">
            <a:avLst>
              <a:gd name="adj" fmla="val 20000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24912" y="199339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Fixed Price + SaaS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06040" y="2359152"/>
            <a:ext cx="18288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2740"/>
                </a:solidFill>
              </a:rPr>
              <a:t>Implementation fixed price. Emmato.com per-user monthly SaaS (updates included).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72584" y="1298448"/>
            <a:ext cx="2029968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72584" y="1298448"/>
            <a:ext cx="2029968" cy="594360"/>
          </a:xfrm>
          <a:prstGeom prst="roundRect">
            <a:avLst>
              <a:gd name="adj" fmla="val 12308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72584" y="1618488"/>
            <a:ext cx="2029968" cy="274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82312" y="13441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3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Transformation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01184" y="1993392"/>
            <a:ext cx="1572768" cy="274320"/>
          </a:xfrm>
          <a:prstGeom prst="roundRect">
            <a:avLst>
              <a:gd name="adj" fmla="val 20000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01184" y="199339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Milestone-Based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82312" y="2359152"/>
            <a:ext cx="18288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2740"/>
                </a:solidFill>
              </a:rPr>
              <a:t>Phased delivery against agreed AI capability milestones. Pay on delivery.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48856" y="1298448"/>
            <a:ext cx="2029968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48856" y="1298448"/>
            <a:ext cx="2029968" cy="594360"/>
          </a:xfrm>
          <a:prstGeom prst="roundRect">
            <a:avLst>
              <a:gd name="adj" fmla="val 12308"/>
            </a:avLst>
          </a:prstGeom>
          <a:solidFill>
            <a:srgbClr val="007A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48856" y="1618488"/>
            <a:ext cx="2029968" cy="274320"/>
          </a:xfrm>
          <a:prstGeom prst="rect">
            <a:avLst/>
          </a:prstGeom>
          <a:solidFill>
            <a:srgbClr val="007A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958584" y="13441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4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Unified Ecosystem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77456" y="1993392"/>
            <a:ext cx="1572768" cy="274320"/>
          </a:xfrm>
          <a:prstGeom prst="roundRect">
            <a:avLst>
              <a:gd name="adj" fmla="val 20000"/>
            </a:avLst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77456" y="199339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Managed Service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58584" y="2359152"/>
            <a:ext cx="18288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2740"/>
                </a:solidFill>
              </a:rPr>
              <a:t>Monthly platform retainer covering support, AI model retraining, and continuous optimisation.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0040" y="32461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Supporting Services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356616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EBF9F8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29768" y="3611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Managed IT Support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874520" y="361188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Monthly retainer. Tiered SLA covering all IT infrastructure, M365, Emmato, Demmato, and web platform.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4754880" y="356616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64608" y="3611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Ad-hoc Development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309360" y="361188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Time &amp; materials. All additions to scope governed by formal change control. No unauthorised spend.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320040" y="411480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EBF9F8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29768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Training &amp; Enablement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874520" y="416052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Included in each phase. Additional training available at day rate. Video library maintained throughout.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4754880" y="411480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64608" y="4160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1B2A"/>
                </a:solidFill>
              </a:rPr>
              <a:t>Photography / Content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09360" y="416052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2740"/>
                </a:solidFill>
              </a:rPr>
              <a:t>NexGen can coordinate professional photography and video as a project service (quoted separately).</a:t>
            </a:r>
            <a:endParaRPr lang="en-US" sz="7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7315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Next Steps — Let's Move Forward Together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00B4A6"/>
                </a:solidFill>
              </a:rPr>
              <a:t>Section 10 · Next Steps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4882896"/>
            <a:ext cx="9144000" cy="26517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9BB0"/>
                </a:solidFill>
              </a:rPr>
              <a:t>© 2026 NexGen Tech Solutions  ·  Confidential  ·  Prepared for Sandha Woodworks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786384"/>
            <a:ext cx="4206240" cy="1261872"/>
          </a:xfrm>
          <a:prstGeom prst="roundRect">
            <a:avLst>
              <a:gd name="adj" fmla="val 5072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969264"/>
            <a:ext cx="603504" cy="603504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96926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24712" y="8778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Strategy Alignment Call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" y="113385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B4A6"/>
                </a:solidFill>
              </a:rPr>
              <a:t>5 Business Days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24712" y="135331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2740"/>
                </a:solidFill>
              </a:rPr>
              <a:t>Review this recommendation. Confirm Phase 1 scope, platform choices, and site structure. Align on ERP and AI vision for Phases 2 and 3.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786384"/>
            <a:ext cx="4206240" cy="1261872"/>
          </a:xfrm>
          <a:prstGeom prst="roundRect">
            <a:avLst>
              <a:gd name="adj" fmla="val 5072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969264"/>
            <a:ext cx="603504" cy="603504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96926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559552" y="8778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Brand Audit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59552" y="113385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B4A6"/>
                </a:solidFill>
              </a:rPr>
              <a:t>7 Business Days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59552" y="135331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2740"/>
                </a:solidFill>
              </a:rPr>
              <a:t>Provide logo files, brand guidelines, and design references. NexGen advises on brand identity sprint if required before development begins.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157984"/>
            <a:ext cx="4206240" cy="1261872"/>
          </a:xfrm>
          <a:prstGeom prst="roundRect">
            <a:avLst>
              <a:gd name="adj" fmla="val 5072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2340864"/>
            <a:ext cx="603504" cy="603504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234086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24712" y="22494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Photography &amp; Video Brief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" y="250545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B4A6"/>
                </a:solidFill>
              </a:rPr>
              <a:t>10 Business Days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4712" y="272491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2740"/>
                </a:solidFill>
              </a:rPr>
              <a:t>NexGen prepares comprehensive shot list and facility walkthrough outline. Coordinate professional photographer and videographer booking.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54880" y="2157984"/>
            <a:ext cx="4206240" cy="1261872"/>
          </a:xfrm>
          <a:prstGeom prst="roundRect">
            <a:avLst>
              <a:gd name="adj" fmla="val 5072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2340864"/>
            <a:ext cx="603504" cy="603504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234086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559552" y="22494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Content Brief &amp; Copy Kickoff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59552" y="250545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B4A6"/>
                </a:solidFill>
              </a:rPr>
              <a:t>14 Business Days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59552" y="272491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2740"/>
                </a:solidFill>
              </a:rPr>
              <a:t>NexGen provides content brief template per page type. Copywriter (NexGen or client) begins capability, sector, and product copy.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3529584"/>
            <a:ext cx="4206240" cy="1261872"/>
          </a:xfrm>
          <a:prstGeom prst="roundRect">
            <a:avLst>
              <a:gd name="adj" fmla="val 5072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11480" y="3712464"/>
            <a:ext cx="603504" cy="603504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" y="371246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1124712" y="36210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SOW &amp; Commercial Proposal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4712" y="387705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B4A6"/>
                </a:solidFill>
              </a:rPr>
              <a:t>Week 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24712" y="409651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2740"/>
                </a:solidFill>
              </a:rPr>
              <a:t>NexGen issues formal fixed-price Statement of Work for Phase 1 with milestone schedule, acceptance criteria, and payment structure.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3529584"/>
            <a:ext cx="4206240" cy="1261872"/>
          </a:xfrm>
          <a:prstGeom prst="roundRect">
            <a:avLst>
              <a:gd name="adj" fmla="val 5072"/>
            </a:avLst>
          </a:prstGeom>
          <a:solidFill>
            <a:srgbClr val="F4F7FA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46320" y="3712464"/>
            <a:ext cx="603504" cy="603504"/>
          </a:xfrm>
          <a:prstGeom prst="ellipse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46320" y="3712464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6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5559552" y="36210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Project Kick-off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59552" y="3877056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0B4A6"/>
                </a:solidFill>
              </a:rPr>
              <a:t>Week 4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559552" y="409651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2740"/>
                </a:solidFill>
              </a:rPr>
              <a:t>Upon SOW sign-off: design sprint begins. Wireframes delivered within 5 business days. Client design review and approval before build.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0" y="4590288"/>
            <a:ext cx="9144000" cy="2926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5760" y="460857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A6"/>
                </a:solidFill>
              </a:rPr>
              <a:t>mayank@nexgts.com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63440" y="46085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</a:rPr>
              <a:t>www.nexgentechsolutions.com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32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059936" y="0"/>
            <a:ext cx="109728" cy="514350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</a:rPr>
              <a:t>N E X G E 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A6"/>
                </a:solidFill>
              </a:rPr>
              <a:t>Technology Solutions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FFFFFF"/>
                </a:solidFill>
              </a:rPr>
              <a:t>"Your Strategic</a:t>
            </a:r>
            <a:endParaRPr lang="en-US" sz="1900" dirty="0"/>
          </a:p>
          <a:p>
            <a:pPr marL="0" indent="0">
              <a:buNone/>
            </a:pPr>
            <a:r>
              <a:rPr lang="en-US" sz="1900" b="1" i="1" dirty="0">
                <a:solidFill>
                  <a:srgbClr val="FFFFFF"/>
                </a:solidFill>
              </a:rPr>
              <a:t>Technology Partner"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A6"/>
                </a:solidFill>
              </a:rPr>
              <a:t>Get in touch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310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mayank@nexgts.com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5844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0"/>
                </a:solidFill>
              </a:rPr>
              <a:t>www.nexgentechsolutions.com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18872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Let's build something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extraordinary together.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80560" y="26060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0"/>
                </a:solidFill>
              </a:rPr>
              <a:t>Sandha Woodworks deserves a digital presence that matches the quality of its craft — and a platform that powers its growth for the next decade. NexGen is ready to make that happen.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4918167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D1B2A"/>
                </a:solidFill>
              </a:rPr>
              <a:t>© 2026 NexGen Tech Solutions  ·  Confidential  ·  Prepared for Sandha Woodworks  ·  v2.0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5333</Words>
  <Application>Microsoft Office PowerPoint</Application>
  <PresentationFormat>On-screen Show (16:9)</PresentationFormat>
  <Paragraphs>970</Paragraphs>
  <Slides>32</Slides>
  <Notes>32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Sandha Woodworks – Digital Transformation Platform Strategy</dc:title>
  <dc:subject>PptxGenJS Presentation</dc:subject>
  <dc:creator>NexGen Technology Solutions</dc:creator>
  <cp:lastModifiedBy>x2253</cp:lastModifiedBy>
  <cp:revision>3</cp:revision>
  <dcterms:created xsi:type="dcterms:W3CDTF">2026-06-21T18:03:20Z</dcterms:created>
  <dcterms:modified xsi:type="dcterms:W3CDTF">2026-06-30T05:17:28Z</dcterms:modified>
</cp:coreProperties>
</file>